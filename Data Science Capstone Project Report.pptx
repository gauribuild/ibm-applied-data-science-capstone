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258" r:id="rId2"/>
    <p:sldId id="259" r:id="rId3"/>
    <p:sldId id="260" r:id="rId4"/>
    <p:sldId id="261" r:id="rId5"/>
    <p:sldId id="262" r:id="rId6"/>
    <p:sldId id="263" r:id="rId7"/>
    <p:sldId id="264" r:id="rId8"/>
    <p:sldId id="265" r:id="rId9"/>
    <p:sldId id="275" r:id="rId10"/>
    <p:sldId id="276" r:id="rId11"/>
    <p:sldId id="274" r:id="rId12"/>
    <p:sldId id="266" r:id="rId13"/>
    <p:sldId id="278" r:id="rId14"/>
    <p:sldId id="279" r:id="rId15"/>
    <p:sldId id="280" r:id="rId16"/>
    <p:sldId id="281" r:id="rId17"/>
    <p:sldId id="277" r:id="rId18"/>
    <p:sldId id="267" r:id="rId19"/>
    <p:sldId id="282" r:id="rId20"/>
    <p:sldId id="268" r:id="rId21"/>
    <p:sldId id="283" r:id="rId22"/>
    <p:sldId id="269" r:id="rId23"/>
    <p:sldId id="272" r:id="rId24"/>
    <p:sldId id="270" r:id="rId25"/>
    <p:sldId id="27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3B4EC9-DC96-41A8-AB91-3DF86B4B1AAF}" v="273" dt="2026-04-05T16:00:42.1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96" autoAdjust="0"/>
  </p:normalViewPr>
  <p:slideViewPr>
    <p:cSldViewPr snapToGrid="0">
      <p:cViewPr>
        <p:scale>
          <a:sx n="66" d="100"/>
          <a:sy n="66" d="100"/>
        </p:scale>
        <p:origin x="66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10F622-04ED-48F4-BF48-674FA8F2E934}" type="doc">
      <dgm:prSet loTypeId="urn:microsoft.com/office/officeart/2018/layout/CircleProcess" loCatId="simpleprocesssa" qsTypeId="urn:microsoft.com/office/officeart/2005/8/quickstyle/simple1" qsCatId="simple" csTypeId="urn:microsoft.com/office/officeart/2005/8/colors/accent1_2" csCatId="accent1"/>
      <dgm:spPr/>
      <dgm:t>
        <a:bodyPr/>
        <a:lstStyle/>
        <a:p>
          <a:endParaRPr lang="en-US"/>
        </a:p>
      </dgm:t>
    </dgm:pt>
    <dgm:pt modelId="{089CF027-1F32-4574-97EF-A984E39D842C}">
      <dgm:prSet custT="1"/>
      <dgm:spPr/>
      <dgm:t>
        <a:bodyPr/>
        <a:lstStyle/>
        <a:p>
          <a:r>
            <a:rPr lang="en-US" sz="1200" dirty="0">
              <a:solidFill>
                <a:schemeClr val="bg1"/>
              </a:solidFill>
            </a:rPr>
            <a:t>Calculated total number of launches. </a:t>
          </a:r>
        </a:p>
      </dgm:t>
    </dgm:pt>
    <dgm:pt modelId="{BA0A6B91-4D1A-4D69-B36D-6B646822C867}" type="parTrans" cxnId="{2E3AD9B1-7F7F-419F-97C0-D85B2AC68E5B}">
      <dgm:prSet/>
      <dgm:spPr/>
      <dgm:t>
        <a:bodyPr/>
        <a:lstStyle/>
        <a:p>
          <a:endParaRPr lang="en-US"/>
        </a:p>
      </dgm:t>
    </dgm:pt>
    <dgm:pt modelId="{BC8FE101-8368-4A37-A1BE-4C1F0EFE5ECB}" type="sibTrans" cxnId="{2E3AD9B1-7F7F-419F-97C0-D85B2AC68E5B}">
      <dgm:prSet/>
      <dgm:spPr/>
      <dgm:t>
        <a:bodyPr/>
        <a:lstStyle/>
        <a:p>
          <a:endParaRPr lang="en-US"/>
        </a:p>
      </dgm:t>
    </dgm:pt>
    <dgm:pt modelId="{AA843F41-7CD8-4542-8C0C-D9744094E24F}">
      <dgm:prSet custT="1"/>
      <dgm:spPr/>
      <dgm:t>
        <a:bodyPr/>
        <a:lstStyle/>
        <a:p>
          <a:r>
            <a:rPr lang="en-US" sz="1050" dirty="0">
              <a:solidFill>
                <a:schemeClr val="bg1"/>
              </a:solidFill>
            </a:rPr>
            <a:t>Counted successful and failed launches. </a:t>
          </a:r>
        </a:p>
      </dgm:t>
    </dgm:pt>
    <dgm:pt modelId="{BBEC7A98-EBD1-4F0E-8663-E36991B784E8}" type="parTrans" cxnId="{49010CBE-FC9A-431B-9C11-11C1B0E250B1}">
      <dgm:prSet/>
      <dgm:spPr/>
      <dgm:t>
        <a:bodyPr/>
        <a:lstStyle/>
        <a:p>
          <a:endParaRPr lang="en-US"/>
        </a:p>
      </dgm:t>
    </dgm:pt>
    <dgm:pt modelId="{FE6CF8DA-EFD9-4FC3-AB8E-9D7E73BFE401}" type="sibTrans" cxnId="{49010CBE-FC9A-431B-9C11-11C1B0E250B1}">
      <dgm:prSet/>
      <dgm:spPr/>
      <dgm:t>
        <a:bodyPr/>
        <a:lstStyle/>
        <a:p>
          <a:endParaRPr lang="en-US"/>
        </a:p>
      </dgm:t>
    </dgm:pt>
    <dgm:pt modelId="{426A3CD3-BEF1-40DB-BBB8-DD91589C36E9}">
      <dgm:prSet custT="1"/>
      <dgm:spPr/>
      <dgm:t>
        <a:bodyPr/>
        <a:lstStyle/>
        <a:p>
          <a:r>
            <a:rPr lang="en-US" sz="1050" dirty="0">
              <a:solidFill>
                <a:schemeClr val="bg1"/>
              </a:solidFill>
            </a:rPr>
            <a:t>Calculated success rates by launch site and rocket </a:t>
          </a:r>
          <a:r>
            <a:rPr lang="en-US" sz="1100" dirty="0">
              <a:solidFill>
                <a:schemeClr val="bg1"/>
              </a:solidFill>
            </a:rPr>
            <a:t>type</a:t>
          </a:r>
          <a:r>
            <a:rPr lang="en-US" sz="1050" dirty="0">
              <a:solidFill>
                <a:schemeClr val="bg1"/>
              </a:solidFill>
            </a:rPr>
            <a:t>.</a:t>
          </a:r>
        </a:p>
      </dgm:t>
    </dgm:pt>
    <dgm:pt modelId="{E39F4A65-F15B-453A-890D-0509557E48EB}" type="parTrans" cxnId="{B7F2F1F2-1473-488A-8E5D-69B4CC66FB0F}">
      <dgm:prSet/>
      <dgm:spPr/>
      <dgm:t>
        <a:bodyPr/>
        <a:lstStyle/>
        <a:p>
          <a:endParaRPr lang="en-US"/>
        </a:p>
      </dgm:t>
    </dgm:pt>
    <dgm:pt modelId="{8BD2F3B3-F396-43EA-A9AB-CCA4847A9D32}" type="sibTrans" cxnId="{B7F2F1F2-1473-488A-8E5D-69B4CC66FB0F}">
      <dgm:prSet/>
      <dgm:spPr/>
      <dgm:t>
        <a:bodyPr/>
        <a:lstStyle/>
        <a:p>
          <a:endParaRPr lang="en-US"/>
        </a:p>
      </dgm:t>
    </dgm:pt>
    <dgm:pt modelId="{2D70A7DD-A542-4C91-9F11-7BF1E8A57D81}">
      <dgm:prSet custT="1"/>
      <dgm:spPr/>
      <dgm:t>
        <a:bodyPr/>
        <a:lstStyle/>
        <a:p>
          <a:r>
            <a:rPr lang="en-IN" sz="1050" dirty="0">
              <a:solidFill>
                <a:schemeClr val="bg1"/>
              </a:solidFill>
            </a:rPr>
            <a:t>Nested queries to calculate derived metrics (e.g., average payload mass per launch site).</a:t>
          </a:r>
          <a:endParaRPr lang="en-US" sz="1050" dirty="0">
            <a:solidFill>
              <a:schemeClr val="bg1"/>
            </a:solidFill>
          </a:endParaRPr>
        </a:p>
      </dgm:t>
    </dgm:pt>
    <dgm:pt modelId="{3DDE6621-A0B0-43F2-B0C5-5EF70C9C9470}" type="parTrans" cxnId="{968912ED-5F0B-4AEC-AF20-97AC8E43BBCF}">
      <dgm:prSet/>
      <dgm:spPr/>
      <dgm:t>
        <a:bodyPr/>
        <a:lstStyle/>
        <a:p>
          <a:endParaRPr lang="en-US"/>
        </a:p>
      </dgm:t>
    </dgm:pt>
    <dgm:pt modelId="{69C4E55D-F283-4CE5-81E4-76A2433B38E6}" type="sibTrans" cxnId="{968912ED-5F0B-4AEC-AF20-97AC8E43BBCF}">
      <dgm:prSet/>
      <dgm:spPr/>
      <dgm:t>
        <a:bodyPr/>
        <a:lstStyle/>
        <a:p>
          <a:endParaRPr lang="en-US"/>
        </a:p>
      </dgm:t>
    </dgm:pt>
    <dgm:pt modelId="{C71874F2-54AB-4428-84B6-DD3E4AC5E345}">
      <dgm:prSet custT="1"/>
      <dgm:spPr/>
      <dgm:t>
        <a:bodyPr/>
        <a:lstStyle/>
        <a:p>
          <a:r>
            <a:rPr lang="en-IN" sz="1050" dirty="0">
              <a:solidFill>
                <a:schemeClr val="bg1"/>
              </a:solidFill>
            </a:rPr>
            <a:t>Subqueries used to perform detailed analysis within larger datasets.</a:t>
          </a:r>
          <a:endParaRPr lang="en-US" sz="1050" dirty="0">
            <a:solidFill>
              <a:schemeClr val="bg1"/>
            </a:solidFill>
          </a:endParaRPr>
        </a:p>
      </dgm:t>
    </dgm:pt>
    <dgm:pt modelId="{7567CCAF-00F5-4FEF-9986-544DB0D3299D}" type="parTrans" cxnId="{39B5BCB8-9987-4126-8F3E-B19CBBC2930E}">
      <dgm:prSet/>
      <dgm:spPr/>
      <dgm:t>
        <a:bodyPr/>
        <a:lstStyle/>
        <a:p>
          <a:endParaRPr lang="en-US"/>
        </a:p>
      </dgm:t>
    </dgm:pt>
    <dgm:pt modelId="{12E28FE1-F427-487B-994E-E29FF4C29E8E}" type="sibTrans" cxnId="{39B5BCB8-9987-4126-8F3E-B19CBBC2930E}">
      <dgm:prSet/>
      <dgm:spPr/>
      <dgm:t>
        <a:bodyPr/>
        <a:lstStyle/>
        <a:p>
          <a:endParaRPr lang="en-US"/>
        </a:p>
      </dgm:t>
    </dgm:pt>
    <dgm:pt modelId="{ED5F50A4-CBB6-4E3D-9560-656868D59E1B}">
      <dgm:prSet custT="1"/>
      <dgm:spPr/>
      <dgm:t>
        <a:bodyPr/>
        <a:lstStyle/>
        <a:p>
          <a:r>
            <a:rPr lang="en-US" sz="1050" dirty="0">
              <a:solidFill>
                <a:schemeClr val="bg1"/>
              </a:solidFill>
            </a:rPr>
            <a:t>Filtered data to focus on specific launch outcomes.</a:t>
          </a:r>
        </a:p>
      </dgm:t>
    </dgm:pt>
    <dgm:pt modelId="{710AC704-3F80-42A1-8F41-D0BFE8909892}" type="parTrans" cxnId="{988D6D72-0DE1-4D0E-9B72-5C5384F138EB}">
      <dgm:prSet/>
      <dgm:spPr/>
      <dgm:t>
        <a:bodyPr/>
        <a:lstStyle/>
        <a:p>
          <a:endParaRPr lang="en-US"/>
        </a:p>
      </dgm:t>
    </dgm:pt>
    <dgm:pt modelId="{B43C4C95-B59B-451E-977E-3F8E65E5BC93}" type="sibTrans" cxnId="{988D6D72-0DE1-4D0E-9B72-5C5384F138EB}">
      <dgm:prSet/>
      <dgm:spPr/>
      <dgm:t>
        <a:bodyPr/>
        <a:lstStyle/>
        <a:p>
          <a:endParaRPr lang="en-US"/>
        </a:p>
      </dgm:t>
    </dgm:pt>
    <dgm:pt modelId="{953642E9-47AF-4B0B-91D2-9830D6FC5510}">
      <dgm:prSet custT="1"/>
      <dgm:spPr/>
      <dgm:t>
        <a:bodyPr/>
        <a:lstStyle/>
        <a:p>
          <a:r>
            <a:rPr lang="en-US" sz="1050" dirty="0">
              <a:solidFill>
                <a:schemeClr val="bg1"/>
              </a:solidFill>
            </a:rPr>
            <a:t>Applied conditions to extract launches based on criteria like </a:t>
          </a:r>
          <a:r>
            <a:rPr lang="en-US" sz="1100" dirty="0">
              <a:solidFill>
                <a:schemeClr val="bg1"/>
              </a:solidFill>
            </a:rPr>
            <a:t>launch</a:t>
          </a:r>
          <a:r>
            <a:rPr lang="en-US" sz="1050" dirty="0">
              <a:solidFill>
                <a:schemeClr val="bg1"/>
              </a:solidFill>
            </a:rPr>
            <a:t> date or rocket configuration.</a:t>
          </a:r>
        </a:p>
      </dgm:t>
    </dgm:pt>
    <dgm:pt modelId="{2406E166-BE74-4EF3-84FE-EB811165520A}" type="parTrans" cxnId="{926B2DE4-E533-43B0-A5C9-5B48687009EA}">
      <dgm:prSet/>
      <dgm:spPr/>
      <dgm:t>
        <a:bodyPr/>
        <a:lstStyle/>
        <a:p>
          <a:endParaRPr lang="en-US"/>
        </a:p>
      </dgm:t>
    </dgm:pt>
    <dgm:pt modelId="{F2E4B365-CDCD-4A09-9D81-45476FA905E7}" type="sibTrans" cxnId="{926B2DE4-E533-43B0-A5C9-5B48687009EA}">
      <dgm:prSet/>
      <dgm:spPr/>
      <dgm:t>
        <a:bodyPr/>
        <a:lstStyle/>
        <a:p>
          <a:endParaRPr lang="en-US"/>
        </a:p>
      </dgm:t>
    </dgm:pt>
    <dgm:pt modelId="{119FFC0F-5C18-4093-9CE6-08925C680156}" type="pres">
      <dgm:prSet presAssocID="{B210F622-04ED-48F4-BF48-674FA8F2E934}" presName="Name0" presStyleCnt="0">
        <dgm:presLayoutVars>
          <dgm:chMax val="11"/>
          <dgm:chPref val="11"/>
          <dgm:dir/>
          <dgm:resizeHandles/>
        </dgm:presLayoutVars>
      </dgm:prSet>
      <dgm:spPr/>
    </dgm:pt>
    <dgm:pt modelId="{F3FACB16-852D-48A0-B18E-891703D2E2E3}" type="pres">
      <dgm:prSet presAssocID="{953642E9-47AF-4B0B-91D2-9830D6FC5510}" presName="Accent7" presStyleCnt="0"/>
      <dgm:spPr/>
    </dgm:pt>
    <dgm:pt modelId="{1AC49860-5BF2-43DE-9B31-C29ECEA1B321}" type="pres">
      <dgm:prSet presAssocID="{953642E9-47AF-4B0B-91D2-9830D6FC5510}" presName="Accent" presStyleLbl="node1" presStyleIdx="0" presStyleCnt="14"/>
      <dgm:spPr/>
    </dgm:pt>
    <dgm:pt modelId="{F96E23F4-5588-41B8-90A1-030DD1905C77}" type="pres">
      <dgm:prSet presAssocID="{953642E9-47AF-4B0B-91D2-9830D6FC5510}" presName="ParentBackground7" presStyleCnt="0"/>
      <dgm:spPr/>
    </dgm:pt>
    <dgm:pt modelId="{BEBA90E9-42C5-4F7D-8E2D-9ACE050B25C6}" type="pres">
      <dgm:prSet presAssocID="{953642E9-47AF-4B0B-91D2-9830D6FC5510}" presName="ParentBackground" presStyleLbl="node1" presStyleIdx="1" presStyleCnt="14"/>
      <dgm:spPr/>
    </dgm:pt>
    <dgm:pt modelId="{B719DA5C-1C22-4F49-A274-5A1643F6C1DF}" type="pres">
      <dgm:prSet presAssocID="{953642E9-47AF-4B0B-91D2-9830D6FC5510}" presName="Parent7" presStyleLbl="fgAcc0" presStyleIdx="0" presStyleCnt="0">
        <dgm:presLayoutVars>
          <dgm:chMax val="1"/>
          <dgm:chPref val="1"/>
          <dgm:bulletEnabled val="1"/>
        </dgm:presLayoutVars>
      </dgm:prSet>
      <dgm:spPr/>
    </dgm:pt>
    <dgm:pt modelId="{142AFF5C-9618-4C7E-A37D-886B9A21AF5B}" type="pres">
      <dgm:prSet presAssocID="{ED5F50A4-CBB6-4E3D-9560-656868D59E1B}" presName="Accent6" presStyleCnt="0"/>
      <dgm:spPr/>
    </dgm:pt>
    <dgm:pt modelId="{405DA0AA-AECC-49F3-8107-12C4708B3448}" type="pres">
      <dgm:prSet presAssocID="{ED5F50A4-CBB6-4E3D-9560-656868D59E1B}" presName="Accent" presStyleLbl="node1" presStyleIdx="2" presStyleCnt="14"/>
      <dgm:spPr/>
    </dgm:pt>
    <dgm:pt modelId="{7177FB50-9691-4E00-990C-12B8F675D4D6}" type="pres">
      <dgm:prSet presAssocID="{ED5F50A4-CBB6-4E3D-9560-656868D59E1B}" presName="ParentBackground6" presStyleCnt="0"/>
      <dgm:spPr/>
    </dgm:pt>
    <dgm:pt modelId="{82CCF105-C4B4-4FCA-97AA-EB029931E1AE}" type="pres">
      <dgm:prSet presAssocID="{ED5F50A4-CBB6-4E3D-9560-656868D59E1B}" presName="ParentBackground" presStyleLbl="node1" presStyleIdx="3" presStyleCnt="14"/>
      <dgm:spPr/>
    </dgm:pt>
    <dgm:pt modelId="{C14F9E83-E33B-464D-B4FF-5E574AF4FFE3}" type="pres">
      <dgm:prSet presAssocID="{ED5F50A4-CBB6-4E3D-9560-656868D59E1B}" presName="Parent6" presStyleLbl="fgAcc0" presStyleIdx="0" presStyleCnt="0">
        <dgm:presLayoutVars>
          <dgm:chMax val="1"/>
          <dgm:chPref val="1"/>
          <dgm:bulletEnabled val="1"/>
        </dgm:presLayoutVars>
      </dgm:prSet>
      <dgm:spPr/>
    </dgm:pt>
    <dgm:pt modelId="{03592802-E899-46E6-BEE7-807E54C59C02}" type="pres">
      <dgm:prSet presAssocID="{C71874F2-54AB-4428-84B6-DD3E4AC5E345}" presName="Accent5" presStyleCnt="0"/>
      <dgm:spPr/>
    </dgm:pt>
    <dgm:pt modelId="{D003BCFB-0A72-49AD-ABF9-325EE200D2DA}" type="pres">
      <dgm:prSet presAssocID="{C71874F2-54AB-4428-84B6-DD3E4AC5E345}" presName="Accent" presStyleLbl="node1" presStyleIdx="4" presStyleCnt="14"/>
      <dgm:spPr/>
    </dgm:pt>
    <dgm:pt modelId="{FA84CB19-AB2E-497E-8A80-194E84D113B9}" type="pres">
      <dgm:prSet presAssocID="{C71874F2-54AB-4428-84B6-DD3E4AC5E345}" presName="ParentBackground5" presStyleCnt="0"/>
      <dgm:spPr/>
    </dgm:pt>
    <dgm:pt modelId="{F0296895-C73F-49A3-9383-A2825765481E}" type="pres">
      <dgm:prSet presAssocID="{C71874F2-54AB-4428-84B6-DD3E4AC5E345}" presName="ParentBackground" presStyleLbl="node1" presStyleIdx="5" presStyleCnt="14"/>
      <dgm:spPr/>
    </dgm:pt>
    <dgm:pt modelId="{053E149E-5E8A-48A6-AA30-59B8E614A876}" type="pres">
      <dgm:prSet presAssocID="{C71874F2-54AB-4428-84B6-DD3E4AC5E345}" presName="Parent5" presStyleLbl="fgAcc0" presStyleIdx="0" presStyleCnt="0">
        <dgm:presLayoutVars>
          <dgm:chMax val="1"/>
          <dgm:chPref val="1"/>
          <dgm:bulletEnabled val="1"/>
        </dgm:presLayoutVars>
      </dgm:prSet>
      <dgm:spPr/>
    </dgm:pt>
    <dgm:pt modelId="{D008D2E2-F927-4EDF-8167-DB2D50442A2B}" type="pres">
      <dgm:prSet presAssocID="{2D70A7DD-A542-4C91-9F11-7BF1E8A57D81}" presName="Accent4" presStyleCnt="0"/>
      <dgm:spPr/>
    </dgm:pt>
    <dgm:pt modelId="{1F06C551-5357-474E-887F-FD6900757049}" type="pres">
      <dgm:prSet presAssocID="{2D70A7DD-A542-4C91-9F11-7BF1E8A57D81}" presName="Accent" presStyleLbl="node1" presStyleIdx="6" presStyleCnt="14"/>
      <dgm:spPr/>
    </dgm:pt>
    <dgm:pt modelId="{8410033F-512E-4991-B73A-97F60A217FA5}" type="pres">
      <dgm:prSet presAssocID="{2D70A7DD-A542-4C91-9F11-7BF1E8A57D81}" presName="ParentBackground4" presStyleCnt="0"/>
      <dgm:spPr/>
    </dgm:pt>
    <dgm:pt modelId="{CED3AD92-B3E4-4027-8F33-3B7CBC9B7E2B}" type="pres">
      <dgm:prSet presAssocID="{2D70A7DD-A542-4C91-9F11-7BF1E8A57D81}" presName="ParentBackground" presStyleLbl="node1" presStyleIdx="7" presStyleCnt="14"/>
      <dgm:spPr/>
    </dgm:pt>
    <dgm:pt modelId="{15F69EB8-4CDE-4ACF-9F7D-DA7D1CB16639}" type="pres">
      <dgm:prSet presAssocID="{2D70A7DD-A542-4C91-9F11-7BF1E8A57D81}" presName="Parent4" presStyleLbl="fgAcc0" presStyleIdx="0" presStyleCnt="0">
        <dgm:presLayoutVars>
          <dgm:chMax val="1"/>
          <dgm:chPref val="1"/>
          <dgm:bulletEnabled val="1"/>
        </dgm:presLayoutVars>
      </dgm:prSet>
      <dgm:spPr/>
    </dgm:pt>
    <dgm:pt modelId="{78F41835-DC91-49D3-B753-53CCDAE3D17B}" type="pres">
      <dgm:prSet presAssocID="{426A3CD3-BEF1-40DB-BBB8-DD91589C36E9}" presName="Accent3" presStyleCnt="0"/>
      <dgm:spPr/>
    </dgm:pt>
    <dgm:pt modelId="{D2BB0436-0F16-44CA-958F-A759C2AD0E84}" type="pres">
      <dgm:prSet presAssocID="{426A3CD3-BEF1-40DB-BBB8-DD91589C36E9}" presName="Accent" presStyleLbl="node1" presStyleIdx="8" presStyleCnt="14"/>
      <dgm:spPr/>
    </dgm:pt>
    <dgm:pt modelId="{775906BE-021F-46D4-83F4-DA2414A8003C}" type="pres">
      <dgm:prSet presAssocID="{426A3CD3-BEF1-40DB-BBB8-DD91589C36E9}" presName="ParentBackground3" presStyleCnt="0"/>
      <dgm:spPr/>
    </dgm:pt>
    <dgm:pt modelId="{12777AEF-FC52-47DE-8220-E93CCE188383}" type="pres">
      <dgm:prSet presAssocID="{426A3CD3-BEF1-40DB-BBB8-DD91589C36E9}" presName="ParentBackground" presStyleLbl="node1" presStyleIdx="9" presStyleCnt="14"/>
      <dgm:spPr/>
    </dgm:pt>
    <dgm:pt modelId="{793FB63F-698E-425A-A4C4-0069C9CE135B}" type="pres">
      <dgm:prSet presAssocID="{426A3CD3-BEF1-40DB-BBB8-DD91589C36E9}" presName="Parent3" presStyleLbl="fgAcc0" presStyleIdx="0" presStyleCnt="0">
        <dgm:presLayoutVars>
          <dgm:chMax val="1"/>
          <dgm:chPref val="1"/>
          <dgm:bulletEnabled val="1"/>
        </dgm:presLayoutVars>
      </dgm:prSet>
      <dgm:spPr/>
    </dgm:pt>
    <dgm:pt modelId="{801A7319-285D-461E-8D92-B1D09D0F6216}" type="pres">
      <dgm:prSet presAssocID="{AA843F41-7CD8-4542-8C0C-D9744094E24F}" presName="Accent2" presStyleCnt="0"/>
      <dgm:spPr/>
    </dgm:pt>
    <dgm:pt modelId="{11D64929-AF9E-41A5-AE80-643889CFA034}" type="pres">
      <dgm:prSet presAssocID="{AA843F41-7CD8-4542-8C0C-D9744094E24F}" presName="Accent" presStyleLbl="node1" presStyleIdx="10" presStyleCnt="14"/>
      <dgm:spPr/>
    </dgm:pt>
    <dgm:pt modelId="{C5F8AE3F-1D1F-43B8-9BA3-EE9D999BBC96}" type="pres">
      <dgm:prSet presAssocID="{AA843F41-7CD8-4542-8C0C-D9744094E24F}" presName="ParentBackground2" presStyleCnt="0"/>
      <dgm:spPr/>
    </dgm:pt>
    <dgm:pt modelId="{72BD2228-4CCD-4E84-888A-EF0E8DC384C1}" type="pres">
      <dgm:prSet presAssocID="{AA843F41-7CD8-4542-8C0C-D9744094E24F}" presName="ParentBackground" presStyleLbl="node1" presStyleIdx="11" presStyleCnt="14"/>
      <dgm:spPr/>
    </dgm:pt>
    <dgm:pt modelId="{A8BE7002-F577-4F61-9BCB-52E93DCB4A08}" type="pres">
      <dgm:prSet presAssocID="{AA843F41-7CD8-4542-8C0C-D9744094E24F}" presName="Parent2" presStyleLbl="fgAcc0" presStyleIdx="0" presStyleCnt="0">
        <dgm:presLayoutVars>
          <dgm:chMax val="1"/>
          <dgm:chPref val="1"/>
          <dgm:bulletEnabled val="1"/>
        </dgm:presLayoutVars>
      </dgm:prSet>
      <dgm:spPr/>
    </dgm:pt>
    <dgm:pt modelId="{FA2CB3C5-3FBE-4797-9278-ECF00D9879E4}" type="pres">
      <dgm:prSet presAssocID="{089CF027-1F32-4574-97EF-A984E39D842C}" presName="Accent1" presStyleCnt="0"/>
      <dgm:spPr/>
    </dgm:pt>
    <dgm:pt modelId="{B13960E7-F4DC-44CA-9B4D-AF93369FE2A5}" type="pres">
      <dgm:prSet presAssocID="{089CF027-1F32-4574-97EF-A984E39D842C}" presName="Accent" presStyleLbl="node1" presStyleIdx="12" presStyleCnt="14"/>
      <dgm:spPr/>
    </dgm:pt>
    <dgm:pt modelId="{57500721-6B91-4919-9365-59C38EC1DDE7}" type="pres">
      <dgm:prSet presAssocID="{089CF027-1F32-4574-97EF-A984E39D842C}" presName="ParentBackground1" presStyleCnt="0"/>
      <dgm:spPr/>
    </dgm:pt>
    <dgm:pt modelId="{2424E78B-6490-47D3-9F43-3D080B0D4650}" type="pres">
      <dgm:prSet presAssocID="{089CF027-1F32-4574-97EF-A984E39D842C}" presName="ParentBackground" presStyleLbl="node1" presStyleIdx="13" presStyleCnt="14"/>
      <dgm:spPr/>
    </dgm:pt>
    <dgm:pt modelId="{69EE1C5A-F61F-4C21-B7BA-186FE8E96970}" type="pres">
      <dgm:prSet presAssocID="{089CF027-1F32-4574-97EF-A984E39D842C}" presName="Parent1" presStyleLbl="fgAcc0" presStyleIdx="0" presStyleCnt="0">
        <dgm:presLayoutVars>
          <dgm:chMax val="1"/>
          <dgm:chPref val="1"/>
          <dgm:bulletEnabled val="1"/>
        </dgm:presLayoutVars>
      </dgm:prSet>
      <dgm:spPr/>
    </dgm:pt>
  </dgm:ptLst>
  <dgm:cxnLst>
    <dgm:cxn modelId="{DB40E90F-8959-45C6-900C-4F9388B4A670}" type="presOf" srcId="{C71874F2-54AB-4428-84B6-DD3E4AC5E345}" destId="{053E149E-5E8A-48A6-AA30-59B8E614A876}" srcOrd="1" destOrd="0" presId="urn:microsoft.com/office/officeart/2018/layout/CircleProcess"/>
    <dgm:cxn modelId="{8F87A017-5579-4C04-99C9-39B0311D227D}" type="presOf" srcId="{426A3CD3-BEF1-40DB-BBB8-DD91589C36E9}" destId="{793FB63F-698E-425A-A4C4-0069C9CE135B}" srcOrd="1" destOrd="0" presId="urn:microsoft.com/office/officeart/2018/layout/CircleProcess"/>
    <dgm:cxn modelId="{A1B40765-14EA-4412-B5A5-B7EBADDDA8FC}" type="presOf" srcId="{B210F622-04ED-48F4-BF48-674FA8F2E934}" destId="{119FFC0F-5C18-4093-9CE6-08925C680156}" srcOrd="0" destOrd="0" presId="urn:microsoft.com/office/officeart/2018/layout/CircleProcess"/>
    <dgm:cxn modelId="{46368D4A-B6B5-4C1B-9D05-45CCB716B7C5}" type="presOf" srcId="{089CF027-1F32-4574-97EF-A984E39D842C}" destId="{69EE1C5A-F61F-4C21-B7BA-186FE8E96970}" srcOrd="1" destOrd="0" presId="urn:microsoft.com/office/officeart/2018/layout/CircleProcess"/>
    <dgm:cxn modelId="{5EDD0C6E-2EE8-4BB9-A0BC-3CED002CCD5F}" type="presOf" srcId="{2D70A7DD-A542-4C91-9F11-7BF1E8A57D81}" destId="{15F69EB8-4CDE-4ACF-9F7D-DA7D1CB16639}" srcOrd="1" destOrd="0" presId="urn:microsoft.com/office/officeart/2018/layout/CircleProcess"/>
    <dgm:cxn modelId="{EA581550-80F4-4781-BC09-11C5D5FFF3B5}" type="presOf" srcId="{C71874F2-54AB-4428-84B6-DD3E4AC5E345}" destId="{F0296895-C73F-49A3-9383-A2825765481E}" srcOrd="0" destOrd="0" presId="urn:microsoft.com/office/officeart/2018/layout/CircleProcess"/>
    <dgm:cxn modelId="{988D6D72-0DE1-4D0E-9B72-5C5384F138EB}" srcId="{B210F622-04ED-48F4-BF48-674FA8F2E934}" destId="{ED5F50A4-CBB6-4E3D-9560-656868D59E1B}" srcOrd="5" destOrd="0" parTransId="{710AC704-3F80-42A1-8F41-D0BFE8909892}" sibTransId="{B43C4C95-B59B-451E-977E-3F8E65E5BC93}"/>
    <dgm:cxn modelId="{1E94EE72-04CE-4688-B8B1-1C841B7FCADE}" type="presOf" srcId="{AA843F41-7CD8-4542-8C0C-D9744094E24F}" destId="{72BD2228-4CCD-4E84-888A-EF0E8DC384C1}" srcOrd="0" destOrd="0" presId="urn:microsoft.com/office/officeart/2018/layout/CircleProcess"/>
    <dgm:cxn modelId="{364C1759-46F5-4530-B6FC-CEC413C5216A}" type="presOf" srcId="{ED5F50A4-CBB6-4E3D-9560-656868D59E1B}" destId="{82CCF105-C4B4-4FCA-97AA-EB029931E1AE}" srcOrd="0" destOrd="0" presId="urn:microsoft.com/office/officeart/2018/layout/CircleProcess"/>
    <dgm:cxn modelId="{1D760A84-B9DA-4EFB-A647-A4208C699D07}" type="presOf" srcId="{426A3CD3-BEF1-40DB-BBB8-DD91589C36E9}" destId="{12777AEF-FC52-47DE-8220-E93CCE188383}" srcOrd="0" destOrd="0" presId="urn:microsoft.com/office/officeart/2018/layout/CircleProcess"/>
    <dgm:cxn modelId="{F221628C-5FA6-46DF-A188-EDF04951043C}" type="presOf" srcId="{089CF027-1F32-4574-97EF-A984E39D842C}" destId="{2424E78B-6490-47D3-9F43-3D080B0D4650}" srcOrd="0" destOrd="0" presId="urn:microsoft.com/office/officeart/2018/layout/CircleProcess"/>
    <dgm:cxn modelId="{EB9A34A3-F232-49FD-BE22-3C5BD3EC22B0}" type="presOf" srcId="{2D70A7DD-A542-4C91-9F11-7BF1E8A57D81}" destId="{CED3AD92-B3E4-4027-8F33-3B7CBC9B7E2B}" srcOrd="0" destOrd="0" presId="urn:microsoft.com/office/officeart/2018/layout/CircleProcess"/>
    <dgm:cxn modelId="{055E05AD-8A52-48F9-AD4D-E05C58582D67}" type="presOf" srcId="{ED5F50A4-CBB6-4E3D-9560-656868D59E1B}" destId="{C14F9E83-E33B-464D-B4FF-5E574AF4FFE3}" srcOrd="1" destOrd="0" presId="urn:microsoft.com/office/officeart/2018/layout/CircleProcess"/>
    <dgm:cxn modelId="{2E3AD9B1-7F7F-419F-97C0-D85B2AC68E5B}" srcId="{B210F622-04ED-48F4-BF48-674FA8F2E934}" destId="{089CF027-1F32-4574-97EF-A984E39D842C}" srcOrd="0" destOrd="0" parTransId="{BA0A6B91-4D1A-4D69-B36D-6B646822C867}" sibTransId="{BC8FE101-8368-4A37-A1BE-4C1F0EFE5ECB}"/>
    <dgm:cxn modelId="{39B5BCB8-9987-4126-8F3E-B19CBBC2930E}" srcId="{B210F622-04ED-48F4-BF48-674FA8F2E934}" destId="{C71874F2-54AB-4428-84B6-DD3E4AC5E345}" srcOrd="4" destOrd="0" parTransId="{7567CCAF-00F5-4FEF-9986-544DB0D3299D}" sibTransId="{12E28FE1-F427-487B-994E-E29FF4C29E8E}"/>
    <dgm:cxn modelId="{49010CBE-FC9A-431B-9C11-11C1B0E250B1}" srcId="{B210F622-04ED-48F4-BF48-674FA8F2E934}" destId="{AA843F41-7CD8-4542-8C0C-D9744094E24F}" srcOrd="1" destOrd="0" parTransId="{BBEC7A98-EBD1-4F0E-8663-E36991B784E8}" sibTransId="{FE6CF8DA-EFD9-4FC3-AB8E-9D7E73BFE401}"/>
    <dgm:cxn modelId="{DA8CC9CF-D0F3-490F-9D92-FA70940459A8}" type="presOf" srcId="{953642E9-47AF-4B0B-91D2-9830D6FC5510}" destId="{B719DA5C-1C22-4F49-A274-5A1643F6C1DF}" srcOrd="1" destOrd="0" presId="urn:microsoft.com/office/officeart/2018/layout/CircleProcess"/>
    <dgm:cxn modelId="{E1646AD5-32E7-48C8-B46E-E919E489549C}" type="presOf" srcId="{AA843F41-7CD8-4542-8C0C-D9744094E24F}" destId="{A8BE7002-F577-4F61-9BCB-52E93DCB4A08}" srcOrd="1" destOrd="0" presId="urn:microsoft.com/office/officeart/2018/layout/CircleProcess"/>
    <dgm:cxn modelId="{0C2561E0-442F-4CAD-91F2-94E616DE446D}" type="presOf" srcId="{953642E9-47AF-4B0B-91D2-9830D6FC5510}" destId="{BEBA90E9-42C5-4F7D-8E2D-9ACE050B25C6}" srcOrd="0" destOrd="0" presId="urn:microsoft.com/office/officeart/2018/layout/CircleProcess"/>
    <dgm:cxn modelId="{926B2DE4-E533-43B0-A5C9-5B48687009EA}" srcId="{B210F622-04ED-48F4-BF48-674FA8F2E934}" destId="{953642E9-47AF-4B0B-91D2-9830D6FC5510}" srcOrd="6" destOrd="0" parTransId="{2406E166-BE74-4EF3-84FE-EB811165520A}" sibTransId="{F2E4B365-CDCD-4A09-9D81-45476FA905E7}"/>
    <dgm:cxn modelId="{968912ED-5F0B-4AEC-AF20-97AC8E43BBCF}" srcId="{B210F622-04ED-48F4-BF48-674FA8F2E934}" destId="{2D70A7DD-A542-4C91-9F11-7BF1E8A57D81}" srcOrd="3" destOrd="0" parTransId="{3DDE6621-A0B0-43F2-B0C5-5EF70C9C9470}" sibTransId="{69C4E55D-F283-4CE5-81E4-76A2433B38E6}"/>
    <dgm:cxn modelId="{B7F2F1F2-1473-488A-8E5D-69B4CC66FB0F}" srcId="{B210F622-04ED-48F4-BF48-674FA8F2E934}" destId="{426A3CD3-BEF1-40DB-BBB8-DD91589C36E9}" srcOrd="2" destOrd="0" parTransId="{E39F4A65-F15B-453A-890D-0509557E48EB}" sibTransId="{8BD2F3B3-F396-43EA-A9AB-CCA4847A9D32}"/>
    <dgm:cxn modelId="{79560F2E-10A8-48B8-8630-7943E26C452B}" type="presParOf" srcId="{119FFC0F-5C18-4093-9CE6-08925C680156}" destId="{F3FACB16-852D-48A0-B18E-891703D2E2E3}" srcOrd="0" destOrd="0" presId="urn:microsoft.com/office/officeart/2018/layout/CircleProcess"/>
    <dgm:cxn modelId="{1EDFEF95-F85A-4FE5-8B14-D05BCC7465FD}" type="presParOf" srcId="{F3FACB16-852D-48A0-B18E-891703D2E2E3}" destId="{1AC49860-5BF2-43DE-9B31-C29ECEA1B321}" srcOrd="0" destOrd="0" presId="urn:microsoft.com/office/officeart/2018/layout/CircleProcess"/>
    <dgm:cxn modelId="{BC36575B-AC45-4BE7-BB4C-2097DFE60CFE}" type="presParOf" srcId="{119FFC0F-5C18-4093-9CE6-08925C680156}" destId="{F96E23F4-5588-41B8-90A1-030DD1905C77}" srcOrd="1" destOrd="0" presId="urn:microsoft.com/office/officeart/2018/layout/CircleProcess"/>
    <dgm:cxn modelId="{E747D7A8-5D2D-4BFA-9A60-C538102DE729}" type="presParOf" srcId="{F96E23F4-5588-41B8-90A1-030DD1905C77}" destId="{BEBA90E9-42C5-4F7D-8E2D-9ACE050B25C6}" srcOrd="0" destOrd="0" presId="urn:microsoft.com/office/officeart/2018/layout/CircleProcess"/>
    <dgm:cxn modelId="{236C98B0-B072-4EAD-9FEC-ADBF2FA20736}" type="presParOf" srcId="{119FFC0F-5C18-4093-9CE6-08925C680156}" destId="{B719DA5C-1C22-4F49-A274-5A1643F6C1DF}" srcOrd="2" destOrd="0" presId="urn:microsoft.com/office/officeart/2018/layout/CircleProcess"/>
    <dgm:cxn modelId="{EBEEF1C6-EC21-4961-8926-47DBDE6979D7}" type="presParOf" srcId="{119FFC0F-5C18-4093-9CE6-08925C680156}" destId="{142AFF5C-9618-4C7E-A37D-886B9A21AF5B}" srcOrd="3" destOrd="0" presId="urn:microsoft.com/office/officeart/2018/layout/CircleProcess"/>
    <dgm:cxn modelId="{5C2C3D2D-7961-4916-8FAD-B8A36AE509F0}" type="presParOf" srcId="{142AFF5C-9618-4C7E-A37D-886B9A21AF5B}" destId="{405DA0AA-AECC-49F3-8107-12C4708B3448}" srcOrd="0" destOrd="0" presId="urn:microsoft.com/office/officeart/2018/layout/CircleProcess"/>
    <dgm:cxn modelId="{A8768278-8F78-4137-9F79-C98AD8877EBB}" type="presParOf" srcId="{119FFC0F-5C18-4093-9CE6-08925C680156}" destId="{7177FB50-9691-4E00-990C-12B8F675D4D6}" srcOrd="4" destOrd="0" presId="urn:microsoft.com/office/officeart/2018/layout/CircleProcess"/>
    <dgm:cxn modelId="{D1538278-50AD-4FEE-AA60-23C45DA0F3D9}" type="presParOf" srcId="{7177FB50-9691-4E00-990C-12B8F675D4D6}" destId="{82CCF105-C4B4-4FCA-97AA-EB029931E1AE}" srcOrd="0" destOrd="0" presId="urn:microsoft.com/office/officeart/2018/layout/CircleProcess"/>
    <dgm:cxn modelId="{1D43482E-54A2-446F-915B-30168A4E429A}" type="presParOf" srcId="{119FFC0F-5C18-4093-9CE6-08925C680156}" destId="{C14F9E83-E33B-464D-B4FF-5E574AF4FFE3}" srcOrd="5" destOrd="0" presId="urn:microsoft.com/office/officeart/2018/layout/CircleProcess"/>
    <dgm:cxn modelId="{FE7B6071-B27D-448A-8FF4-1334098F98FE}" type="presParOf" srcId="{119FFC0F-5C18-4093-9CE6-08925C680156}" destId="{03592802-E899-46E6-BEE7-807E54C59C02}" srcOrd="6" destOrd="0" presId="urn:microsoft.com/office/officeart/2018/layout/CircleProcess"/>
    <dgm:cxn modelId="{F8989F58-E53B-4F3D-9FE7-005179AC8D68}" type="presParOf" srcId="{03592802-E899-46E6-BEE7-807E54C59C02}" destId="{D003BCFB-0A72-49AD-ABF9-325EE200D2DA}" srcOrd="0" destOrd="0" presId="urn:microsoft.com/office/officeart/2018/layout/CircleProcess"/>
    <dgm:cxn modelId="{89054550-CC61-4984-9F1B-65E4D7EC81E1}" type="presParOf" srcId="{119FFC0F-5C18-4093-9CE6-08925C680156}" destId="{FA84CB19-AB2E-497E-8A80-194E84D113B9}" srcOrd="7" destOrd="0" presId="urn:microsoft.com/office/officeart/2018/layout/CircleProcess"/>
    <dgm:cxn modelId="{EE2A774A-6E5A-42BB-A3E4-63897CC026E5}" type="presParOf" srcId="{FA84CB19-AB2E-497E-8A80-194E84D113B9}" destId="{F0296895-C73F-49A3-9383-A2825765481E}" srcOrd="0" destOrd="0" presId="urn:microsoft.com/office/officeart/2018/layout/CircleProcess"/>
    <dgm:cxn modelId="{939883C6-132A-4FFF-ADF1-B8AF064604C8}" type="presParOf" srcId="{119FFC0F-5C18-4093-9CE6-08925C680156}" destId="{053E149E-5E8A-48A6-AA30-59B8E614A876}" srcOrd="8" destOrd="0" presId="urn:microsoft.com/office/officeart/2018/layout/CircleProcess"/>
    <dgm:cxn modelId="{C5E990A0-0E69-4660-A550-044A894404D8}" type="presParOf" srcId="{119FFC0F-5C18-4093-9CE6-08925C680156}" destId="{D008D2E2-F927-4EDF-8167-DB2D50442A2B}" srcOrd="9" destOrd="0" presId="urn:microsoft.com/office/officeart/2018/layout/CircleProcess"/>
    <dgm:cxn modelId="{3CDBB17A-428E-4521-8E91-3D97280863ED}" type="presParOf" srcId="{D008D2E2-F927-4EDF-8167-DB2D50442A2B}" destId="{1F06C551-5357-474E-887F-FD6900757049}" srcOrd="0" destOrd="0" presId="urn:microsoft.com/office/officeart/2018/layout/CircleProcess"/>
    <dgm:cxn modelId="{0CDC7CCB-814C-4F90-9042-BE4D1FD84F3F}" type="presParOf" srcId="{119FFC0F-5C18-4093-9CE6-08925C680156}" destId="{8410033F-512E-4991-B73A-97F60A217FA5}" srcOrd="10" destOrd="0" presId="urn:microsoft.com/office/officeart/2018/layout/CircleProcess"/>
    <dgm:cxn modelId="{BBEB6F07-2945-4815-9C30-2444A30B647F}" type="presParOf" srcId="{8410033F-512E-4991-B73A-97F60A217FA5}" destId="{CED3AD92-B3E4-4027-8F33-3B7CBC9B7E2B}" srcOrd="0" destOrd="0" presId="urn:microsoft.com/office/officeart/2018/layout/CircleProcess"/>
    <dgm:cxn modelId="{1E941CAB-8335-4440-BEC0-CE6AC48D20D5}" type="presParOf" srcId="{119FFC0F-5C18-4093-9CE6-08925C680156}" destId="{15F69EB8-4CDE-4ACF-9F7D-DA7D1CB16639}" srcOrd="11" destOrd="0" presId="urn:microsoft.com/office/officeart/2018/layout/CircleProcess"/>
    <dgm:cxn modelId="{F90E6F61-F20A-4C3A-BBA7-C379CD015C96}" type="presParOf" srcId="{119FFC0F-5C18-4093-9CE6-08925C680156}" destId="{78F41835-DC91-49D3-B753-53CCDAE3D17B}" srcOrd="12" destOrd="0" presId="urn:microsoft.com/office/officeart/2018/layout/CircleProcess"/>
    <dgm:cxn modelId="{567E2B5E-569F-4B03-A74D-F3336CB87B14}" type="presParOf" srcId="{78F41835-DC91-49D3-B753-53CCDAE3D17B}" destId="{D2BB0436-0F16-44CA-958F-A759C2AD0E84}" srcOrd="0" destOrd="0" presId="urn:microsoft.com/office/officeart/2018/layout/CircleProcess"/>
    <dgm:cxn modelId="{2CFFCA1A-D197-4D67-954F-7A6C8AA4EB7F}" type="presParOf" srcId="{119FFC0F-5C18-4093-9CE6-08925C680156}" destId="{775906BE-021F-46D4-83F4-DA2414A8003C}" srcOrd="13" destOrd="0" presId="urn:microsoft.com/office/officeart/2018/layout/CircleProcess"/>
    <dgm:cxn modelId="{6F293BB6-9E12-41C7-8911-61FF26781080}" type="presParOf" srcId="{775906BE-021F-46D4-83F4-DA2414A8003C}" destId="{12777AEF-FC52-47DE-8220-E93CCE188383}" srcOrd="0" destOrd="0" presId="urn:microsoft.com/office/officeart/2018/layout/CircleProcess"/>
    <dgm:cxn modelId="{04A73ACF-0D78-4C82-BABD-5BAD03539145}" type="presParOf" srcId="{119FFC0F-5C18-4093-9CE6-08925C680156}" destId="{793FB63F-698E-425A-A4C4-0069C9CE135B}" srcOrd="14" destOrd="0" presId="urn:microsoft.com/office/officeart/2018/layout/CircleProcess"/>
    <dgm:cxn modelId="{66131125-BBB1-45CC-A773-D653DD97547D}" type="presParOf" srcId="{119FFC0F-5C18-4093-9CE6-08925C680156}" destId="{801A7319-285D-461E-8D92-B1D09D0F6216}" srcOrd="15" destOrd="0" presId="urn:microsoft.com/office/officeart/2018/layout/CircleProcess"/>
    <dgm:cxn modelId="{92C01A00-E933-4E79-9C63-3F06E0DA6166}" type="presParOf" srcId="{801A7319-285D-461E-8D92-B1D09D0F6216}" destId="{11D64929-AF9E-41A5-AE80-643889CFA034}" srcOrd="0" destOrd="0" presId="urn:microsoft.com/office/officeart/2018/layout/CircleProcess"/>
    <dgm:cxn modelId="{C1CE7CB7-0AE4-4DFE-86ED-36E0EBA45820}" type="presParOf" srcId="{119FFC0F-5C18-4093-9CE6-08925C680156}" destId="{C5F8AE3F-1D1F-43B8-9BA3-EE9D999BBC96}" srcOrd="16" destOrd="0" presId="urn:microsoft.com/office/officeart/2018/layout/CircleProcess"/>
    <dgm:cxn modelId="{07503B97-8CB0-40F5-98A5-C5E29A81148D}" type="presParOf" srcId="{C5F8AE3F-1D1F-43B8-9BA3-EE9D999BBC96}" destId="{72BD2228-4CCD-4E84-888A-EF0E8DC384C1}" srcOrd="0" destOrd="0" presId="urn:microsoft.com/office/officeart/2018/layout/CircleProcess"/>
    <dgm:cxn modelId="{623EB683-6354-4FF5-AAB0-C75335B4E5F2}" type="presParOf" srcId="{119FFC0F-5C18-4093-9CE6-08925C680156}" destId="{A8BE7002-F577-4F61-9BCB-52E93DCB4A08}" srcOrd="17" destOrd="0" presId="urn:microsoft.com/office/officeart/2018/layout/CircleProcess"/>
    <dgm:cxn modelId="{AC952C77-83DB-486D-BFF0-6AAF622FB997}" type="presParOf" srcId="{119FFC0F-5C18-4093-9CE6-08925C680156}" destId="{FA2CB3C5-3FBE-4797-9278-ECF00D9879E4}" srcOrd="18" destOrd="0" presId="urn:microsoft.com/office/officeart/2018/layout/CircleProcess"/>
    <dgm:cxn modelId="{CC14AF16-F415-4739-B406-B72F1AFB6CFE}" type="presParOf" srcId="{FA2CB3C5-3FBE-4797-9278-ECF00D9879E4}" destId="{B13960E7-F4DC-44CA-9B4D-AF93369FE2A5}" srcOrd="0" destOrd="0" presId="urn:microsoft.com/office/officeart/2018/layout/CircleProcess"/>
    <dgm:cxn modelId="{2D4D4C1C-7441-42AE-9132-1BF5C42EA265}" type="presParOf" srcId="{119FFC0F-5C18-4093-9CE6-08925C680156}" destId="{57500721-6B91-4919-9365-59C38EC1DDE7}" srcOrd="19" destOrd="0" presId="urn:microsoft.com/office/officeart/2018/layout/CircleProcess"/>
    <dgm:cxn modelId="{AFED938C-C458-4E08-827B-34058F38F196}" type="presParOf" srcId="{57500721-6B91-4919-9365-59C38EC1DDE7}" destId="{2424E78B-6490-47D3-9F43-3D080B0D4650}" srcOrd="0" destOrd="0" presId="urn:microsoft.com/office/officeart/2018/layout/CircleProcess"/>
    <dgm:cxn modelId="{BA328A65-699A-4E7A-AA5C-221057F596BA}" type="presParOf" srcId="{119FFC0F-5C18-4093-9CE6-08925C680156}" destId="{69EE1C5A-F61F-4C21-B7BA-186FE8E96970}" srcOrd="20" destOrd="0" presId="urn:microsoft.com/office/officeart/2018/layout/Circle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C49860-5BF2-43DE-9B31-C29ECEA1B321}">
      <dsp:nvSpPr>
        <dsp:cNvPr id="0" name=""/>
        <dsp:cNvSpPr/>
      </dsp:nvSpPr>
      <dsp:spPr>
        <a:xfrm>
          <a:off x="10382270" y="580682"/>
          <a:ext cx="1529724" cy="1529256"/>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BA90E9-42C5-4F7D-8E2D-9ACE050B25C6}">
      <dsp:nvSpPr>
        <dsp:cNvPr id="0" name=""/>
        <dsp:cNvSpPr/>
      </dsp:nvSpPr>
      <dsp:spPr>
        <a:xfrm>
          <a:off x="10434240" y="631666"/>
          <a:ext cx="1426914" cy="142728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kern="1200" dirty="0">
              <a:solidFill>
                <a:schemeClr val="bg1"/>
              </a:solidFill>
            </a:rPr>
            <a:t>Applied conditions to extract launches based on criteria like </a:t>
          </a:r>
          <a:r>
            <a:rPr lang="en-US" sz="1100" kern="1200" dirty="0">
              <a:solidFill>
                <a:schemeClr val="bg1"/>
              </a:solidFill>
            </a:rPr>
            <a:t>launch</a:t>
          </a:r>
          <a:r>
            <a:rPr lang="en-US" sz="1050" kern="1200" dirty="0">
              <a:solidFill>
                <a:schemeClr val="bg1"/>
              </a:solidFill>
            </a:rPr>
            <a:t> date or rocket configuration.</a:t>
          </a:r>
        </a:p>
      </dsp:txBody>
      <dsp:txXfrm>
        <a:off x="10637601" y="835603"/>
        <a:ext cx="1019063" cy="1019414"/>
      </dsp:txXfrm>
    </dsp:sp>
    <dsp:sp modelId="{405DA0AA-AECC-49F3-8107-12C4708B3448}">
      <dsp:nvSpPr>
        <dsp:cNvPr id="0" name=""/>
        <dsp:cNvSpPr/>
      </dsp:nvSpPr>
      <dsp:spPr>
        <a:xfrm rot="2700000">
          <a:off x="8802467" y="580510"/>
          <a:ext cx="1529331" cy="1529331"/>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CCF105-C4B4-4FCA-97AA-EB029931E1AE}">
      <dsp:nvSpPr>
        <dsp:cNvPr id="0" name=""/>
        <dsp:cNvSpPr/>
      </dsp:nvSpPr>
      <dsp:spPr>
        <a:xfrm>
          <a:off x="8853675" y="631666"/>
          <a:ext cx="1426914" cy="142728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kern="1200" dirty="0">
              <a:solidFill>
                <a:schemeClr val="bg1"/>
              </a:solidFill>
            </a:rPr>
            <a:t>Filtered data to focus on specific launch outcomes.</a:t>
          </a:r>
        </a:p>
      </dsp:txBody>
      <dsp:txXfrm>
        <a:off x="9057036" y="835603"/>
        <a:ext cx="1019063" cy="1019414"/>
      </dsp:txXfrm>
    </dsp:sp>
    <dsp:sp modelId="{D003BCFB-0A72-49AD-ABF9-325EE200D2DA}">
      <dsp:nvSpPr>
        <dsp:cNvPr id="0" name=""/>
        <dsp:cNvSpPr/>
      </dsp:nvSpPr>
      <dsp:spPr>
        <a:xfrm rot="2700000">
          <a:off x="7223032" y="580510"/>
          <a:ext cx="1529331" cy="1529331"/>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296895-C73F-49A3-9383-A2825765481E}">
      <dsp:nvSpPr>
        <dsp:cNvPr id="0" name=""/>
        <dsp:cNvSpPr/>
      </dsp:nvSpPr>
      <dsp:spPr>
        <a:xfrm>
          <a:off x="7273110" y="631666"/>
          <a:ext cx="1426914" cy="142728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IN" sz="1050" kern="1200" dirty="0">
              <a:solidFill>
                <a:schemeClr val="bg1"/>
              </a:solidFill>
            </a:rPr>
            <a:t>Subqueries used to perform detailed analysis within larger datasets.</a:t>
          </a:r>
          <a:endParaRPr lang="en-US" sz="1050" kern="1200" dirty="0">
            <a:solidFill>
              <a:schemeClr val="bg1"/>
            </a:solidFill>
          </a:endParaRPr>
        </a:p>
      </dsp:txBody>
      <dsp:txXfrm>
        <a:off x="7477601" y="835603"/>
        <a:ext cx="1019063" cy="1019414"/>
      </dsp:txXfrm>
    </dsp:sp>
    <dsp:sp modelId="{1F06C551-5357-474E-887F-FD6900757049}">
      <dsp:nvSpPr>
        <dsp:cNvPr id="0" name=""/>
        <dsp:cNvSpPr/>
      </dsp:nvSpPr>
      <dsp:spPr>
        <a:xfrm rot="2700000">
          <a:off x="5642467" y="580510"/>
          <a:ext cx="1529331" cy="1529331"/>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D3AD92-B3E4-4027-8F33-3B7CBC9B7E2B}">
      <dsp:nvSpPr>
        <dsp:cNvPr id="0" name=""/>
        <dsp:cNvSpPr/>
      </dsp:nvSpPr>
      <dsp:spPr>
        <a:xfrm>
          <a:off x="5693675" y="631666"/>
          <a:ext cx="1426914" cy="142728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IN" sz="1050" kern="1200" dirty="0">
              <a:solidFill>
                <a:schemeClr val="bg1"/>
              </a:solidFill>
            </a:rPr>
            <a:t>Nested queries to calculate derived metrics (e.g., average payload mass per launch site).</a:t>
          </a:r>
          <a:endParaRPr lang="en-US" sz="1050" kern="1200" dirty="0">
            <a:solidFill>
              <a:schemeClr val="bg1"/>
            </a:solidFill>
          </a:endParaRPr>
        </a:p>
      </dsp:txBody>
      <dsp:txXfrm>
        <a:off x="5897036" y="835603"/>
        <a:ext cx="1019063" cy="1019414"/>
      </dsp:txXfrm>
    </dsp:sp>
    <dsp:sp modelId="{D2BB0436-0F16-44CA-958F-A759C2AD0E84}">
      <dsp:nvSpPr>
        <dsp:cNvPr id="0" name=""/>
        <dsp:cNvSpPr/>
      </dsp:nvSpPr>
      <dsp:spPr>
        <a:xfrm rot="2700000">
          <a:off x="4061902" y="580510"/>
          <a:ext cx="1529331" cy="1529331"/>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777AEF-FC52-47DE-8220-E93CCE188383}">
      <dsp:nvSpPr>
        <dsp:cNvPr id="0" name=""/>
        <dsp:cNvSpPr/>
      </dsp:nvSpPr>
      <dsp:spPr>
        <a:xfrm>
          <a:off x="4113110" y="631666"/>
          <a:ext cx="1426914" cy="142728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kern="1200" dirty="0">
              <a:solidFill>
                <a:schemeClr val="bg1"/>
              </a:solidFill>
            </a:rPr>
            <a:t>Calculated success rates by launch site and rocket </a:t>
          </a:r>
          <a:r>
            <a:rPr lang="en-US" sz="1100" kern="1200" dirty="0">
              <a:solidFill>
                <a:schemeClr val="bg1"/>
              </a:solidFill>
            </a:rPr>
            <a:t>type</a:t>
          </a:r>
          <a:r>
            <a:rPr lang="en-US" sz="1050" kern="1200" dirty="0">
              <a:solidFill>
                <a:schemeClr val="bg1"/>
              </a:solidFill>
            </a:rPr>
            <a:t>.</a:t>
          </a:r>
        </a:p>
      </dsp:txBody>
      <dsp:txXfrm>
        <a:off x="4316471" y="835603"/>
        <a:ext cx="1019063" cy="1019414"/>
      </dsp:txXfrm>
    </dsp:sp>
    <dsp:sp modelId="{11D64929-AF9E-41A5-AE80-643889CFA034}">
      <dsp:nvSpPr>
        <dsp:cNvPr id="0" name=""/>
        <dsp:cNvSpPr/>
      </dsp:nvSpPr>
      <dsp:spPr>
        <a:xfrm rot="2700000">
          <a:off x="2482467" y="580510"/>
          <a:ext cx="1529331" cy="1529331"/>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2BD2228-4CCD-4E84-888A-EF0E8DC384C1}">
      <dsp:nvSpPr>
        <dsp:cNvPr id="0" name=""/>
        <dsp:cNvSpPr/>
      </dsp:nvSpPr>
      <dsp:spPr>
        <a:xfrm>
          <a:off x="2532545" y="631666"/>
          <a:ext cx="1426914" cy="142728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kern="1200" dirty="0">
              <a:solidFill>
                <a:schemeClr val="bg1"/>
              </a:solidFill>
            </a:rPr>
            <a:t>Counted successful and failed launches. </a:t>
          </a:r>
        </a:p>
      </dsp:txBody>
      <dsp:txXfrm>
        <a:off x="2737036" y="835603"/>
        <a:ext cx="1019063" cy="1019414"/>
      </dsp:txXfrm>
    </dsp:sp>
    <dsp:sp modelId="{B13960E7-F4DC-44CA-9B4D-AF93369FE2A5}">
      <dsp:nvSpPr>
        <dsp:cNvPr id="0" name=""/>
        <dsp:cNvSpPr/>
      </dsp:nvSpPr>
      <dsp:spPr>
        <a:xfrm rot="2700000">
          <a:off x="901902" y="580510"/>
          <a:ext cx="1529331" cy="1529331"/>
        </a:xfrm>
        <a:prstGeom prst="teardrop">
          <a:avLst>
            <a:gd name="adj" fmla="val 10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24E78B-6490-47D3-9F43-3D080B0D4650}">
      <dsp:nvSpPr>
        <dsp:cNvPr id="0" name=""/>
        <dsp:cNvSpPr/>
      </dsp:nvSpPr>
      <dsp:spPr>
        <a:xfrm>
          <a:off x="953110" y="631666"/>
          <a:ext cx="1426914" cy="142728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bg1"/>
              </a:solidFill>
            </a:rPr>
            <a:t>Calculated total number of launches. </a:t>
          </a:r>
        </a:p>
      </dsp:txBody>
      <dsp:txXfrm>
        <a:off x="1156471" y="835603"/>
        <a:ext cx="1019063" cy="1019414"/>
      </dsp:txXfrm>
    </dsp:sp>
  </dsp:spTree>
</dsp:drawing>
</file>

<file path=ppt/diagrams/layout1.xml><?xml version="1.0" encoding="utf-8"?>
<dgm:layoutDef xmlns:dgm="http://schemas.openxmlformats.org/drawingml/2006/diagram" xmlns:a="http://schemas.openxmlformats.org/drawingml/2006/main" uniqueId="urn:microsoft.com/office/officeart/2018/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node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0F217F6-F442-B2C6-4140-B1F64506CB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8D99626-C5CD-87E0-7C57-4643A82BED5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F4126B0-7CB2-4B25-85D4-8CB42A74BB85}" type="datetimeFigureOut">
              <a:rPr lang="en-IN" smtClean="0"/>
              <a:t>05-04-2026</a:t>
            </a:fld>
            <a:endParaRPr lang="en-IN"/>
          </a:p>
        </p:txBody>
      </p:sp>
      <p:sp>
        <p:nvSpPr>
          <p:cNvPr id="4" name="Footer Placeholder 3">
            <a:extLst>
              <a:ext uri="{FF2B5EF4-FFF2-40B4-BE49-F238E27FC236}">
                <a16:creationId xmlns:a16="http://schemas.microsoft.com/office/drawing/2014/main" id="{E0C8C0C1-D7ED-C856-B4EB-36D7CA78FE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3E4CBFB5-DB29-F2C4-B533-08D6DE42195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5AD24E-6FEB-448B-8D31-AC28E585B5EA}" type="slidenum">
              <a:rPr lang="en-IN" smtClean="0"/>
              <a:t>‹#›</a:t>
            </a:fld>
            <a:endParaRPr lang="en-IN"/>
          </a:p>
        </p:txBody>
      </p:sp>
    </p:spTree>
    <p:extLst>
      <p:ext uri="{BB962C8B-B14F-4D97-AF65-F5344CB8AC3E}">
        <p14:creationId xmlns:p14="http://schemas.microsoft.com/office/powerpoint/2010/main" val="234446619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217D58-41AB-4134-9991-B28F9AB98BFE}" type="datetimeFigureOut">
              <a:rPr lang="en-IN" smtClean="0"/>
              <a:t>05-04-2026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82A9E0-1791-4832-9714-CEE889ED3EB7}" type="slidenum">
              <a:rPr lang="en-IN" smtClean="0"/>
              <a:t>‹#›</a:t>
            </a:fld>
            <a:endParaRPr lang="en-IN"/>
          </a:p>
        </p:txBody>
      </p:sp>
    </p:spTree>
    <p:extLst>
      <p:ext uri="{BB962C8B-B14F-4D97-AF65-F5344CB8AC3E}">
        <p14:creationId xmlns:p14="http://schemas.microsoft.com/office/powerpoint/2010/main" val="6589842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382A9E0-1791-4832-9714-CEE889ED3EB7}" type="slidenum">
              <a:rPr lang="en-IN" smtClean="0"/>
              <a:t>21</a:t>
            </a:fld>
            <a:endParaRPr lang="en-IN"/>
          </a:p>
        </p:txBody>
      </p:sp>
    </p:spTree>
    <p:extLst>
      <p:ext uri="{BB962C8B-B14F-4D97-AF65-F5344CB8AC3E}">
        <p14:creationId xmlns:p14="http://schemas.microsoft.com/office/powerpoint/2010/main" val="1335053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CE1EC-AC0E-F469-93FA-D2B567433D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EABA237-E0D4-8664-0EEE-585D9BA3A5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BD2F1EC-3C03-98AB-E917-E2D0C3793017}"/>
              </a:ext>
            </a:extLst>
          </p:cNvPr>
          <p:cNvSpPr>
            <a:spLocks noGrp="1"/>
          </p:cNvSpPr>
          <p:nvPr>
            <p:ph type="dt" sz="half" idx="10"/>
          </p:nvPr>
        </p:nvSpPr>
        <p:spPr/>
        <p:txBody>
          <a:bodyPr/>
          <a:lstStyle/>
          <a:p>
            <a:fld id="{0FEED979-9D35-4557-BD60-1C3C892BD541}" type="datetimeFigureOut">
              <a:rPr lang="en-IN" smtClean="0"/>
              <a:t>05-04-2026</a:t>
            </a:fld>
            <a:endParaRPr lang="en-IN"/>
          </a:p>
        </p:txBody>
      </p:sp>
      <p:sp>
        <p:nvSpPr>
          <p:cNvPr id="5" name="Footer Placeholder 4">
            <a:extLst>
              <a:ext uri="{FF2B5EF4-FFF2-40B4-BE49-F238E27FC236}">
                <a16:creationId xmlns:a16="http://schemas.microsoft.com/office/drawing/2014/main" id="{13357EB7-F8C1-C3BF-7FAC-458988BD8F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5B24AE-7591-1387-1437-35DD610C9821}"/>
              </a:ext>
            </a:extLst>
          </p:cNvPr>
          <p:cNvSpPr>
            <a:spLocks noGrp="1"/>
          </p:cNvSpPr>
          <p:nvPr>
            <p:ph type="sldNum" sz="quarter" idx="12"/>
          </p:nvPr>
        </p:nvSpPr>
        <p:spPr/>
        <p:txBody>
          <a:bodyPr/>
          <a:lstStyle/>
          <a:p>
            <a:fld id="{C89BF700-E1E8-4CE1-B3BD-7485A4ABDEDF}" type="slidenum">
              <a:rPr lang="en-IN" smtClean="0"/>
              <a:t>‹#›</a:t>
            </a:fld>
            <a:endParaRPr lang="en-IN"/>
          </a:p>
        </p:txBody>
      </p:sp>
    </p:spTree>
    <p:extLst>
      <p:ext uri="{BB962C8B-B14F-4D97-AF65-F5344CB8AC3E}">
        <p14:creationId xmlns:p14="http://schemas.microsoft.com/office/powerpoint/2010/main" val="3726134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E9F1C-2694-51A6-C649-6F72325A21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EF1CCC-AC0A-8195-7A73-53C4B2ACEB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5417AD-9907-91FE-A95D-5F250DDCE4CC}"/>
              </a:ext>
            </a:extLst>
          </p:cNvPr>
          <p:cNvSpPr>
            <a:spLocks noGrp="1"/>
          </p:cNvSpPr>
          <p:nvPr>
            <p:ph type="dt" sz="half" idx="10"/>
          </p:nvPr>
        </p:nvSpPr>
        <p:spPr/>
        <p:txBody>
          <a:bodyPr/>
          <a:lstStyle/>
          <a:p>
            <a:fld id="{0FEED979-9D35-4557-BD60-1C3C892BD541}" type="datetimeFigureOut">
              <a:rPr lang="en-IN" smtClean="0"/>
              <a:t>05-04-2026</a:t>
            </a:fld>
            <a:endParaRPr lang="en-IN"/>
          </a:p>
        </p:txBody>
      </p:sp>
      <p:sp>
        <p:nvSpPr>
          <p:cNvPr id="5" name="Footer Placeholder 4">
            <a:extLst>
              <a:ext uri="{FF2B5EF4-FFF2-40B4-BE49-F238E27FC236}">
                <a16:creationId xmlns:a16="http://schemas.microsoft.com/office/drawing/2014/main" id="{3C8DA45E-934A-782D-AB55-588BA39719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A0A760-F2F0-4DD4-2097-2DA0F629C6EC}"/>
              </a:ext>
            </a:extLst>
          </p:cNvPr>
          <p:cNvSpPr>
            <a:spLocks noGrp="1"/>
          </p:cNvSpPr>
          <p:nvPr>
            <p:ph type="sldNum" sz="quarter" idx="12"/>
          </p:nvPr>
        </p:nvSpPr>
        <p:spPr/>
        <p:txBody>
          <a:bodyPr/>
          <a:lstStyle/>
          <a:p>
            <a:fld id="{C89BF700-E1E8-4CE1-B3BD-7485A4ABDEDF}" type="slidenum">
              <a:rPr lang="en-IN" smtClean="0"/>
              <a:t>‹#›</a:t>
            </a:fld>
            <a:endParaRPr lang="en-IN"/>
          </a:p>
        </p:txBody>
      </p:sp>
    </p:spTree>
    <p:extLst>
      <p:ext uri="{BB962C8B-B14F-4D97-AF65-F5344CB8AC3E}">
        <p14:creationId xmlns:p14="http://schemas.microsoft.com/office/powerpoint/2010/main" val="3666531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D0EAD-1E52-703D-384F-AC62338426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5C94A27-B2CF-5444-3E62-1054BDEFBC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17CD4A-80B6-3782-33C3-95F7204832F4}"/>
              </a:ext>
            </a:extLst>
          </p:cNvPr>
          <p:cNvSpPr>
            <a:spLocks noGrp="1"/>
          </p:cNvSpPr>
          <p:nvPr>
            <p:ph type="dt" sz="half" idx="10"/>
          </p:nvPr>
        </p:nvSpPr>
        <p:spPr/>
        <p:txBody>
          <a:bodyPr/>
          <a:lstStyle/>
          <a:p>
            <a:fld id="{0FEED979-9D35-4557-BD60-1C3C892BD541}" type="datetimeFigureOut">
              <a:rPr lang="en-IN" smtClean="0"/>
              <a:t>05-04-2026</a:t>
            </a:fld>
            <a:endParaRPr lang="en-IN"/>
          </a:p>
        </p:txBody>
      </p:sp>
      <p:sp>
        <p:nvSpPr>
          <p:cNvPr id="5" name="Footer Placeholder 4">
            <a:extLst>
              <a:ext uri="{FF2B5EF4-FFF2-40B4-BE49-F238E27FC236}">
                <a16:creationId xmlns:a16="http://schemas.microsoft.com/office/drawing/2014/main" id="{ACA8C727-CA66-606B-A939-4701389F25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56BE87-EEFA-3219-F95E-289FFDD0C109}"/>
              </a:ext>
            </a:extLst>
          </p:cNvPr>
          <p:cNvSpPr>
            <a:spLocks noGrp="1"/>
          </p:cNvSpPr>
          <p:nvPr>
            <p:ph type="sldNum" sz="quarter" idx="12"/>
          </p:nvPr>
        </p:nvSpPr>
        <p:spPr/>
        <p:txBody>
          <a:bodyPr/>
          <a:lstStyle/>
          <a:p>
            <a:fld id="{C89BF700-E1E8-4CE1-B3BD-7485A4ABDEDF}" type="slidenum">
              <a:rPr lang="en-IN" smtClean="0"/>
              <a:t>‹#›</a:t>
            </a:fld>
            <a:endParaRPr lang="en-IN"/>
          </a:p>
        </p:txBody>
      </p:sp>
    </p:spTree>
    <p:extLst>
      <p:ext uri="{BB962C8B-B14F-4D97-AF65-F5344CB8AC3E}">
        <p14:creationId xmlns:p14="http://schemas.microsoft.com/office/powerpoint/2010/main" val="3411818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64F64-EA76-4D97-01C8-3AD022AC95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4E7835-62AA-3EC8-71DD-9AB7163011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9824CD8-9723-8378-B370-0AE38B7BA3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324B433-60E8-31E7-31FE-A721C6C2F129}"/>
              </a:ext>
            </a:extLst>
          </p:cNvPr>
          <p:cNvSpPr>
            <a:spLocks noGrp="1"/>
          </p:cNvSpPr>
          <p:nvPr>
            <p:ph type="dt" sz="half" idx="10"/>
          </p:nvPr>
        </p:nvSpPr>
        <p:spPr/>
        <p:txBody>
          <a:bodyPr/>
          <a:lstStyle/>
          <a:p>
            <a:fld id="{0FEED979-9D35-4557-BD60-1C3C892BD541}" type="datetimeFigureOut">
              <a:rPr lang="en-IN" smtClean="0"/>
              <a:t>05-04-2026</a:t>
            </a:fld>
            <a:endParaRPr lang="en-IN"/>
          </a:p>
        </p:txBody>
      </p:sp>
      <p:sp>
        <p:nvSpPr>
          <p:cNvPr id="6" name="Footer Placeholder 5">
            <a:extLst>
              <a:ext uri="{FF2B5EF4-FFF2-40B4-BE49-F238E27FC236}">
                <a16:creationId xmlns:a16="http://schemas.microsoft.com/office/drawing/2014/main" id="{233CBF43-141B-3239-2CAD-5C18B91C03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E121D1-CF4F-0580-3829-C4D64270D341}"/>
              </a:ext>
            </a:extLst>
          </p:cNvPr>
          <p:cNvSpPr>
            <a:spLocks noGrp="1"/>
          </p:cNvSpPr>
          <p:nvPr>
            <p:ph type="sldNum" sz="quarter" idx="12"/>
          </p:nvPr>
        </p:nvSpPr>
        <p:spPr/>
        <p:txBody>
          <a:bodyPr/>
          <a:lstStyle/>
          <a:p>
            <a:fld id="{C89BF700-E1E8-4CE1-B3BD-7485A4ABDEDF}" type="slidenum">
              <a:rPr lang="en-IN" smtClean="0"/>
              <a:t>‹#›</a:t>
            </a:fld>
            <a:endParaRPr lang="en-IN"/>
          </a:p>
        </p:txBody>
      </p:sp>
    </p:spTree>
    <p:extLst>
      <p:ext uri="{BB962C8B-B14F-4D97-AF65-F5344CB8AC3E}">
        <p14:creationId xmlns:p14="http://schemas.microsoft.com/office/powerpoint/2010/main" val="3047563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4C9FC-301D-504B-B978-546D5546B49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39700E-4929-DD0C-1406-F11A1004DD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165BCD-0903-D0D6-9AFA-356879FB3E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DCEC6A3-B579-69B0-E7B8-E09D954EE5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841F36-E38A-93DE-8C74-FD40734911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20C32C8-BD4A-F23C-B618-D7DF31206390}"/>
              </a:ext>
            </a:extLst>
          </p:cNvPr>
          <p:cNvSpPr>
            <a:spLocks noGrp="1"/>
          </p:cNvSpPr>
          <p:nvPr>
            <p:ph type="dt" sz="half" idx="10"/>
          </p:nvPr>
        </p:nvSpPr>
        <p:spPr/>
        <p:txBody>
          <a:bodyPr/>
          <a:lstStyle/>
          <a:p>
            <a:fld id="{0FEED979-9D35-4557-BD60-1C3C892BD541}" type="datetimeFigureOut">
              <a:rPr lang="en-IN" smtClean="0"/>
              <a:t>05-04-2026</a:t>
            </a:fld>
            <a:endParaRPr lang="en-IN"/>
          </a:p>
        </p:txBody>
      </p:sp>
      <p:sp>
        <p:nvSpPr>
          <p:cNvPr id="8" name="Footer Placeholder 7">
            <a:extLst>
              <a:ext uri="{FF2B5EF4-FFF2-40B4-BE49-F238E27FC236}">
                <a16:creationId xmlns:a16="http://schemas.microsoft.com/office/drawing/2014/main" id="{281C97DA-49B5-C492-33A3-559E484DC7E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0F166A2-3066-B21A-E877-D8012B75B93F}"/>
              </a:ext>
            </a:extLst>
          </p:cNvPr>
          <p:cNvSpPr>
            <a:spLocks noGrp="1"/>
          </p:cNvSpPr>
          <p:nvPr>
            <p:ph type="sldNum" sz="quarter" idx="12"/>
          </p:nvPr>
        </p:nvSpPr>
        <p:spPr/>
        <p:txBody>
          <a:bodyPr/>
          <a:lstStyle/>
          <a:p>
            <a:fld id="{C89BF700-E1E8-4CE1-B3BD-7485A4ABDEDF}" type="slidenum">
              <a:rPr lang="en-IN" smtClean="0"/>
              <a:t>‹#›</a:t>
            </a:fld>
            <a:endParaRPr lang="en-IN"/>
          </a:p>
        </p:txBody>
      </p:sp>
    </p:spTree>
    <p:extLst>
      <p:ext uri="{BB962C8B-B14F-4D97-AF65-F5344CB8AC3E}">
        <p14:creationId xmlns:p14="http://schemas.microsoft.com/office/powerpoint/2010/main" val="10954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C536F-9881-6F2B-F72A-E8ECD6CAEB2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6405BE-D57C-2F80-BB0D-7EF0F883E926}"/>
              </a:ext>
            </a:extLst>
          </p:cNvPr>
          <p:cNvSpPr>
            <a:spLocks noGrp="1"/>
          </p:cNvSpPr>
          <p:nvPr>
            <p:ph type="dt" sz="half" idx="10"/>
          </p:nvPr>
        </p:nvSpPr>
        <p:spPr/>
        <p:txBody>
          <a:bodyPr/>
          <a:lstStyle/>
          <a:p>
            <a:fld id="{0FEED979-9D35-4557-BD60-1C3C892BD541}" type="datetimeFigureOut">
              <a:rPr lang="en-IN" smtClean="0"/>
              <a:t>05-04-2026</a:t>
            </a:fld>
            <a:endParaRPr lang="en-IN"/>
          </a:p>
        </p:txBody>
      </p:sp>
      <p:sp>
        <p:nvSpPr>
          <p:cNvPr id="4" name="Footer Placeholder 3">
            <a:extLst>
              <a:ext uri="{FF2B5EF4-FFF2-40B4-BE49-F238E27FC236}">
                <a16:creationId xmlns:a16="http://schemas.microsoft.com/office/drawing/2014/main" id="{3CAB97E9-0586-2F36-E684-1D80196FB62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CCC7BAC-1B83-7F91-E9F3-EB24D51FFB1E}"/>
              </a:ext>
            </a:extLst>
          </p:cNvPr>
          <p:cNvSpPr>
            <a:spLocks noGrp="1"/>
          </p:cNvSpPr>
          <p:nvPr>
            <p:ph type="sldNum" sz="quarter" idx="12"/>
          </p:nvPr>
        </p:nvSpPr>
        <p:spPr/>
        <p:txBody>
          <a:bodyPr/>
          <a:lstStyle/>
          <a:p>
            <a:fld id="{C89BF700-E1E8-4CE1-B3BD-7485A4ABDEDF}" type="slidenum">
              <a:rPr lang="en-IN" smtClean="0"/>
              <a:t>‹#›</a:t>
            </a:fld>
            <a:endParaRPr lang="en-IN"/>
          </a:p>
        </p:txBody>
      </p:sp>
    </p:spTree>
    <p:extLst>
      <p:ext uri="{BB962C8B-B14F-4D97-AF65-F5344CB8AC3E}">
        <p14:creationId xmlns:p14="http://schemas.microsoft.com/office/powerpoint/2010/main" val="1849337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D592E0-B5CD-D3BB-D21E-0CAA7FA9385B}"/>
              </a:ext>
            </a:extLst>
          </p:cNvPr>
          <p:cNvSpPr>
            <a:spLocks noGrp="1"/>
          </p:cNvSpPr>
          <p:nvPr>
            <p:ph type="dt" sz="half" idx="10"/>
          </p:nvPr>
        </p:nvSpPr>
        <p:spPr/>
        <p:txBody>
          <a:bodyPr/>
          <a:lstStyle/>
          <a:p>
            <a:fld id="{0FEED979-9D35-4557-BD60-1C3C892BD541}" type="datetimeFigureOut">
              <a:rPr lang="en-IN" smtClean="0"/>
              <a:t>05-04-2026</a:t>
            </a:fld>
            <a:endParaRPr lang="en-IN"/>
          </a:p>
        </p:txBody>
      </p:sp>
      <p:sp>
        <p:nvSpPr>
          <p:cNvPr id="3" name="Footer Placeholder 2">
            <a:extLst>
              <a:ext uri="{FF2B5EF4-FFF2-40B4-BE49-F238E27FC236}">
                <a16:creationId xmlns:a16="http://schemas.microsoft.com/office/drawing/2014/main" id="{B69CB45F-4F19-AE8E-2AA3-F0D86275CC7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62517FF-ACB0-B2BC-9740-350720A39674}"/>
              </a:ext>
            </a:extLst>
          </p:cNvPr>
          <p:cNvSpPr>
            <a:spLocks noGrp="1"/>
          </p:cNvSpPr>
          <p:nvPr>
            <p:ph type="sldNum" sz="quarter" idx="12"/>
          </p:nvPr>
        </p:nvSpPr>
        <p:spPr/>
        <p:txBody>
          <a:bodyPr/>
          <a:lstStyle/>
          <a:p>
            <a:fld id="{C89BF700-E1E8-4CE1-B3BD-7485A4ABDEDF}" type="slidenum">
              <a:rPr lang="en-IN" smtClean="0"/>
              <a:t>‹#›</a:t>
            </a:fld>
            <a:endParaRPr lang="en-IN"/>
          </a:p>
        </p:txBody>
      </p:sp>
    </p:spTree>
    <p:extLst>
      <p:ext uri="{BB962C8B-B14F-4D97-AF65-F5344CB8AC3E}">
        <p14:creationId xmlns:p14="http://schemas.microsoft.com/office/powerpoint/2010/main" val="4175304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80C08-3CD0-3EB5-ECA5-72ACED8A3E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803C867-11EE-B259-7712-521F9C50BB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6E55AC-2254-6437-3E48-38C46D8E13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391635-6256-83BE-4C50-E950CFBBB3AD}"/>
              </a:ext>
            </a:extLst>
          </p:cNvPr>
          <p:cNvSpPr>
            <a:spLocks noGrp="1"/>
          </p:cNvSpPr>
          <p:nvPr>
            <p:ph type="dt" sz="half" idx="10"/>
          </p:nvPr>
        </p:nvSpPr>
        <p:spPr/>
        <p:txBody>
          <a:bodyPr/>
          <a:lstStyle/>
          <a:p>
            <a:fld id="{0FEED979-9D35-4557-BD60-1C3C892BD541}" type="datetimeFigureOut">
              <a:rPr lang="en-IN" smtClean="0"/>
              <a:t>05-04-2026</a:t>
            </a:fld>
            <a:endParaRPr lang="en-IN"/>
          </a:p>
        </p:txBody>
      </p:sp>
      <p:sp>
        <p:nvSpPr>
          <p:cNvPr id="6" name="Footer Placeholder 5">
            <a:extLst>
              <a:ext uri="{FF2B5EF4-FFF2-40B4-BE49-F238E27FC236}">
                <a16:creationId xmlns:a16="http://schemas.microsoft.com/office/drawing/2014/main" id="{E8F6AFA6-53CE-7AAB-DB74-F397959B06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D3E010-B45C-4B75-5F22-16065770FB46}"/>
              </a:ext>
            </a:extLst>
          </p:cNvPr>
          <p:cNvSpPr>
            <a:spLocks noGrp="1"/>
          </p:cNvSpPr>
          <p:nvPr>
            <p:ph type="sldNum" sz="quarter" idx="12"/>
          </p:nvPr>
        </p:nvSpPr>
        <p:spPr/>
        <p:txBody>
          <a:bodyPr/>
          <a:lstStyle/>
          <a:p>
            <a:fld id="{C89BF700-E1E8-4CE1-B3BD-7485A4ABDEDF}" type="slidenum">
              <a:rPr lang="en-IN" smtClean="0"/>
              <a:t>‹#›</a:t>
            </a:fld>
            <a:endParaRPr lang="en-IN"/>
          </a:p>
        </p:txBody>
      </p:sp>
    </p:spTree>
    <p:extLst>
      <p:ext uri="{BB962C8B-B14F-4D97-AF65-F5344CB8AC3E}">
        <p14:creationId xmlns:p14="http://schemas.microsoft.com/office/powerpoint/2010/main" val="2080313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7CD11-886B-41F1-F622-1528F17E0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7A3D649-A6C1-DA34-DAA0-7EE5CC0883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7FEB46F-BF5D-307D-BEC9-49A47E6AFD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CF2B2B-D1B8-2D2D-1EA6-A44274408EE7}"/>
              </a:ext>
            </a:extLst>
          </p:cNvPr>
          <p:cNvSpPr>
            <a:spLocks noGrp="1"/>
          </p:cNvSpPr>
          <p:nvPr>
            <p:ph type="dt" sz="half" idx="10"/>
          </p:nvPr>
        </p:nvSpPr>
        <p:spPr/>
        <p:txBody>
          <a:bodyPr/>
          <a:lstStyle/>
          <a:p>
            <a:fld id="{0FEED979-9D35-4557-BD60-1C3C892BD541}" type="datetimeFigureOut">
              <a:rPr lang="en-IN" smtClean="0"/>
              <a:t>05-04-2026</a:t>
            </a:fld>
            <a:endParaRPr lang="en-IN"/>
          </a:p>
        </p:txBody>
      </p:sp>
      <p:sp>
        <p:nvSpPr>
          <p:cNvPr id="6" name="Footer Placeholder 5">
            <a:extLst>
              <a:ext uri="{FF2B5EF4-FFF2-40B4-BE49-F238E27FC236}">
                <a16:creationId xmlns:a16="http://schemas.microsoft.com/office/drawing/2014/main" id="{FFC6253D-C09F-CB73-5B45-190F74346A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E3394D-76C3-51C6-0B12-3DA3EE87A798}"/>
              </a:ext>
            </a:extLst>
          </p:cNvPr>
          <p:cNvSpPr>
            <a:spLocks noGrp="1"/>
          </p:cNvSpPr>
          <p:nvPr>
            <p:ph type="sldNum" sz="quarter" idx="12"/>
          </p:nvPr>
        </p:nvSpPr>
        <p:spPr/>
        <p:txBody>
          <a:bodyPr/>
          <a:lstStyle/>
          <a:p>
            <a:fld id="{C89BF700-E1E8-4CE1-B3BD-7485A4ABDEDF}" type="slidenum">
              <a:rPr lang="en-IN" smtClean="0"/>
              <a:t>‹#›</a:t>
            </a:fld>
            <a:endParaRPr lang="en-IN"/>
          </a:p>
        </p:txBody>
      </p:sp>
    </p:spTree>
    <p:extLst>
      <p:ext uri="{BB962C8B-B14F-4D97-AF65-F5344CB8AC3E}">
        <p14:creationId xmlns:p14="http://schemas.microsoft.com/office/powerpoint/2010/main" val="3484848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37FFD-F722-31B1-41F5-C34B05CBE8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FE4669-F33F-6F76-C0DA-E135FC4354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AC6742-3697-3B3C-5152-752E84814866}"/>
              </a:ext>
            </a:extLst>
          </p:cNvPr>
          <p:cNvSpPr>
            <a:spLocks noGrp="1"/>
          </p:cNvSpPr>
          <p:nvPr>
            <p:ph type="dt" sz="half" idx="10"/>
          </p:nvPr>
        </p:nvSpPr>
        <p:spPr/>
        <p:txBody>
          <a:bodyPr/>
          <a:lstStyle/>
          <a:p>
            <a:fld id="{0FEED979-9D35-4557-BD60-1C3C892BD541}" type="datetimeFigureOut">
              <a:rPr lang="en-IN" smtClean="0"/>
              <a:t>05-04-2026</a:t>
            </a:fld>
            <a:endParaRPr lang="en-IN"/>
          </a:p>
        </p:txBody>
      </p:sp>
      <p:sp>
        <p:nvSpPr>
          <p:cNvPr id="5" name="Footer Placeholder 4">
            <a:extLst>
              <a:ext uri="{FF2B5EF4-FFF2-40B4-BE49-F238E27FC236}">
                <a16:creationId xmlns:a16="http://schemas.microsoft.com/office/drawing/2014/main" id="{B4665C4D-459F-7111-8E13-7659349BD9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A5CE4D-10EC-1926-3A29-CBD84918D28F}"/>
              </a:ext>
            </a:extLst>
          </p:cNvPr>
          <p:cNvSpPr>
            <a:spLocks noGrp="1"/>
          </p:cNvSpPr>
          <p:nvPr>
            <p:ph type="sldNum" sz="quarter" idx="12"/>
          </p:nvPr>
        </p:nvSpPr>
        <p:spPr/>
        <p:txBody>
          <a:bodyPr/>
          <a:lstStyle/>
          <a:p>
            <a:fld id="{C89BF700-E1E8-4CE1-B3BD-7485A4ABDEDF}" type="slidenum">
              <a:rPr lang="en-IN" smtClean="0"/>
              <a:t>‹#›</a:t>
            </a:fld>
            <a:endParaRPr lang="en-IN"/>
          </a:p>
        </p:txBody>
      </p:sp>
    </p:spTree>
    <p:extLst>
      <p:ext uri="{BB962C8B-B14F-4D97-AF65-F5344CB8AC3E}">
        <p14:creationId xmlns:p14="http://schemas.microsoft.com/office/powerpoint/2010/main" val="2106114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4BB1A1-32C4-BCB3-65E4-AF4CE20C08F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36702C-1411-D0DC-A3C3-1A2E268639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C3174D-06CA-89AD-9517-CE902AA2F7E9}"/>
              </a:ext>
            </a:extLst>
          </p:cNvPr>
          <p:cNvSpPr>
            <a:spLocks noGrp="1"/>
          </p:cNvSpPr>
          <p:nvPr>
            <p:ph type="dt" sz="half" idx="10"/>
          </p:nvPr>
        </p:nvSpPr>
        <p:spPr/>
        <p:txBody>
          <a:bodyPr/>
          <a:lstStyle/>
          <a:p>
            <a:fld id="{0FEED979-9D35-4557-BD60-1C3C892BD541}" type="datetimeFigureOut">
              <a:rPr lang="en-IN" smtClean="0"/>
              <a:t>05-04-2026</a:t>
            </a:fld>
            <a:endParaRPr lang="en-IN"/>
          </a:p>
        </p:txBody>
      </p:sp>
      <p:sp>
        <p:nvSpPr>
          <p:cNvPr id="5" name="Footer Placeholder 4">
            <a:extLst>
              <a:ext uri="{FF2B5EF4-FFF2-40B4-BE49-F238E27FC236}">
                <a16:creationId xmlns:a16="http://schemas.microsoft.com/office/drawing/2014/main" id="{40465F9C-C54C-B933-61F4-5BE06E6FDD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8A7374-FF02-16FB-9A04-F09EA26265FC}"/>
              </a:ext>
            </a:extLst>
          </p:cNvPr>
          <p:cNvSpPr>
            <a:spLocks noGrp="1"/>
          </p:cNvSpPr>
          <p:nvPr>
            <p:ph type="sldNum" sz="quarter" idx="12"/>
          </p:nvPr>
        </p:nvSpPr>
        <p:spPr/>
        <p:txBody>
          <a:bodyPr/>
          <a:lstStyle/>
          <a:p>
            <a:fld id="{C89BF700-E1E8-4CE1-B3BD-7485A4ABDEDF}" type="slidenum">
              <a:rPr lang="en-IN" smtClean="0"/>
              <a:t>‹#›</a:t>
            </a:fld>
            <a:endParaRPr lang="en-IN"/>
          </a:p>
        </p:txBody>
      </p:sp>
    </p:spTree>
    <p:extLst>
      <p:ext uri="{BB962C8B-B14F-4D97-AF65-F5344CB8AC3E}">
        <p14:creationId xmlns:p14="http://schemas.microsoft.com/office/powerpoint/2010/main" val="3170063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6EE0CE-F81D-22BC-23C1-8C7DFDA27D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6DEBD36-469D-84D9-7CB9-367E9715F7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129A46-6C84-B635-A485-DB6CD6C9B4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EED979-9D35-4557-BD60-1C3C892BD541}" type="datetimeFigureOut">
              <a:rPr lang="en-IN" smtClean="0"/>
              <a:t>05-04-2026</a:t>
            </a:fld>
            <a:endParaRPr lang="en-IN"/>
          </a:p>
        </p:txBody>
      </p:sp>
      <p:sp>
        <p:nvSpPr>
          <p:cNvPr id="5" name="Footer Placeholder 4">
            <a:extLst>
              <a:ext uri="{FF2B5EF4-FFF2-40B4-BE49-F238E27FC236}">
                <a16:creationId xmlns:a16="http://schemas.microsoft.com/office/drawing/2014/main" id="{543C3327-0531-6322-FB3C-ABD96EB251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37737AE-9278-116F-9FB5-7573B2EB54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9BF700-E1E8-4CE1-B3BD-7485A4ABDEDF}" type="slidenum">
              <a:rPr lang="en-IN" smtClean="0"/>
              <a:t>‹#›</a:t>
            </a:fld>
            <a:endParaRPr lang="en-IN"/>
          </a:p>
        </p:txBody>
      </p:sp>
    </p:spTree>
    <p:extLst>
      <p:ext uri="{BB962C8B-B14F-4D97-AF65-F5344CB8AC3E}">
        <p14:creationId xmlns:p14="http://schemas.microsoft.com/office/powerpoint/2010/main" val="1299081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flickr.com/photos/spacex/40126461411/in/photostream/" TargetMode="External"/><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flickr.com/photos/147489968@N06/29927671905"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Gauribuild/IBM-Applied-Data-Science-Capstone/blob/main/jupyter-labs-spacex-data-collection-api%20(1).ipynb"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slide" Target="slide1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slide" Target="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slide" Target="slide21.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www.flickr.com/photos/spacex/16236321533/" TargetMode="External"/><Relationship Id="rId2" Type="http://schemas.openxmlformats.org/officeDocument/2006/relationships/image" Target="../media/image29.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13D085-812C-0C7D-7B57-CCF72030213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08156" y="-35906"/>
            <a:ext cx="12388645" cy="7103806"/>
          </a:xfrm>
          <a:prstGeom prst="rect">
            <a:avLst/>
          </a:prstGeom>
        </p:spPr>
      </p:pic>
      <p:sp>
        <p:nvSpPr>
          <p:cNvPr id="2" name="TextBox 1">
            <a:extLst>
              <a:ext uri="{FF2B5EF4-FFF2-40B4-BE49-F238E27FC236}">
                <a16:creationId xmlns:a16="http://schemas.microsoft.com/office/drawing/2014/main" id="{5BBFD209-15CE-664E-A3C1-41CA2B891E51}"/>
              </a:ext>
            </a:extLst>
          </p:cNvPr>
          <p:cNvSpPr txBox="1"/>
          <p:nvPr/>
        </p:nvSpPr>
        <p:spPr>
          <a:xfrm>
            <a:off x="5074919" y="1648302"/>
            <a:ext cx="7345681" cy="1631216"/>
          </a:xfrm>
          <a:prstGeom prst="rect">
            <a:avLst/>
          </a:prstGeom>
          <a:noFill/>
        </p:spPr>
        <p:txBody>
          <a:bodyPr wrap="square" rtlCol="0">
            <a:spAutoFit/>
          </a:bodyPr>
          <a:lstStyle/>
          <a:p>
            <a:r>
              <a:rPr lang="en-IN" sz="2000" dirty="0">
                <a:solidFill>
                  <a:schemeClr val="bg1"/>
                </a:solidFill>
                <a:cs typeface="Times New Roman" panose="02020603050405020304" pitchFamily="18" charset="0"/>
              </a:rPr>
              <a:t>Title: 			SpaceX Data Analysis</a:t>
            </a:r>
          </a:p>
          <a:p>
            <a:r>
              <a:rPr lang="en-IN" sz="2000" dirty="0">
                <a:solidFill>
                  <a:schemeClr val="bg1"/>
                </a:solidFill>
                <a:cs typeface="Times New Roman" panose="02020603050405020304" pitchFamily="18" charset="0"/>
              </a:rPr>
              <a:t>Presenter Name: 	Gauri Tomar</a:t>
            </a:r>
          </a:p>
          <a:p>
            <a:r>
              <a:rPr lang="en-IN" sz="2000" dirty="0">
                <a:solidFill>
                  <a:schemeClr val="bg1"/>
                </a:solidFill>
                <a:cs typeface="Times New Roman" panose="02020603050405020304" pitchFamily="18" charset="0"/>
              </a:rPr>
              <a:t>Course: 		Applied Data Science Capstone by IBM</a:t>
            </a:r>
          </a:p>
          <a:p>
            <a:r>
              <a:rPr lang="en-IN" sz="2000" dirty="0">
                <a:solidFill>
                  <a:schemeClr val="bg1"/>
                </a:solidFill>
                <a:cs typeface="Times New Roman" panose="02020603050405020304" pitchFamily="18" charset="0"/>
              </a:rPr>
              <a:t>Platform: 		Coursera</a:t>
            </a:r>
          </a:p>
          <a:p>
            <a:r>
              <a:rPr lang="en-IN" sz="2000" dirty="0">
                <a:solidFill>
                  <a:schemeClr val="bg1"/>
                </a:solidFill>
                <a:cs typeface="Times New Roman" panose="02020603050405020304" pitchFamily="18" charset="0"/>
              </a:rPr>
              <a:t>Date:			5 April 2026	</a:t>
            </a:r>
          </a:p>
        </p:txBody>
      </p:sp>
      <p:sp>
        <p:nvSpPr>
          <p:cNvPr id="5" name="TextBox 4">
            <a:extLst>
              <a:ext uri="{FF2B5EF4-FFF2-40B4-BE49-F238E27FC236}">
                <a16:creationId xmlns:a16="http://schemas.microsoft.com/office/drawing/2014/main" id="{EB315853-20AA-4328-379F-DA48E3575618}"/>
              </a:ext>
            </a:extLst>
          </p:cNvPr>
          <p:cNvSpPr txBox="1"/>
          <p:nvPr/>
        </p:nvSpPr>
        <p:spPr>
          <a:xfrm>
            <a:off x="2461659" y="6563711"/>
            <a:ext cx="8337885" cy="369332"/>
          </a:xfrm>
          <a:prstGeom prst="rect">
            <a:avLst/>
          </a:prstGeom>
          <a:solidFill>
            <a:schemeClr val="bg1"/>
          </a:solidFill>
        </p:spPr>
        <p:txBody>
          <a:bodyPr wrap="square">
            <a:spAutoFit/>
          </a:bodyPr>
          <a:lstStyle/>
          <a:p>
            <a:r>
              <a:rPr lang="en-IN" b="1" dirty="0" err="1"/>
              <a:t>Github</a:t>
            </a:r>
            <a:r>
              <a:rPr lang="en-IN" b="1" dirty="0"/>
              <a:t> URL: </a:t>
            </a:r>
            <a:r>
              <a:rPr lang="en-IN" dirty="0">
                <a:hlinkClick r:id="rId4" action="ppaction://hlinksldjump"/>
              </a:rPr>
              <a:t>https://github.com/Gauribuild/IBM-Applied-Data-Science-Capstone</a:t>
            </a:r>
            <a:endParaRPr lang="en-IN" dirty="0"/>
          </a:p>
        </p:txBody>
      </p:sp>
    </p:spTree>
    <p:extLst>
      <p:ext uri="{BB962C8B-B14F-4D97-AF65-F5344CB8AC3E}">
        <p14:creationId xmlns:p14="http://schemas.microsoft.com/office/powerpoint/2010/main" val="1753055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8829E1-50BB-3763-1841-7753CFCECC04}"/>
              </a:ext>
            </a:extLst>
          </p:cNvPr>
          <p:cNvSpPr txBox="1"/>
          <p:nvPr/>
        </p:nvSpPr>
        <p:spPr>
          <a:xfrm>
            <a:off x="381000" y="467667"/>
            <a:ext cx="3975100" cy="461665"/>
          </a:xfrm>
          <a:prstGeom prst="rect">
            <a:avLst/>
          </a:prstGeom>
          <a:noFill/>
        </p:spPr>
        <p:txBody>
          <a:bodyPr wrap="square" rtlCol="0">
            <a:spAutoFit/>
          </a:bodyPr>
          <a:lstStyle/>
          <a:p>
            <a:r>
              <a:rPr lang="en-IN" sz="2400" b="1" dirty="0">
                <a:solidFill>
                  <a:schemeClr val="tx2">
                    <a:lumMod val="75000"/>
                    <a:lumOff val="25000"/>
                  </a:schemeClr>
                </a:solidFill>
              </a:rPr>
              <a:t>OUTLINE</a:t>
            </a:r>
            <a:r>
              <a:rPr lang="en-IN" dirty="0">
                <a:solidFill>
                  <a:schemeClr val="tx2">
                    <a:lumMod val="75000"/>
                    <a:lumOff val="25000"/>
                  </a:schemeClr>
                </a:solidFill>
              </a:rPr>
              <a:t>:</a:t>
            </a:r>
          </a:p>
        </p:txBody>
      </p:sp>
      <p:cxnSp>
        <p:nvCxnSpPr>
          <p:cNvPr id="4" name="Straight Connector 3">
            <a:extLst>
              <a:ext uri="{FF2B5EF4-FFF2-40B4-BE49-F238E27FC236}">
                <a16:creationId xmlns:a16="http://schemas.microsoft.com/office/drawing/2014/main" id="{11A039F0-C7CA-E249-4760-664F1832BB89}"/>
              </a:ext>
            </a:extLst>
          </p:cNvPr>
          <p:cNvCxnSpPr/>
          <p:nvPr/>
        </p:nvCxnSpPr>
        <p:spPr>
          <a:xfrm>
            <a:off x="495300" y="929332"/>
            <a:ext cx="1120140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C1DD41A3-E007-B683-F5EE-EB768124FD99}"/>
              </a:ext>
            </a:extLst>
          </p:cNvPr>
          <p:cNvSpPr txBox="1"/>
          <p:nvPr/>
        </p:nvSpPr>
        <p:spPr>
          <a:xfrm>
            <a:off x="381000" y="1018232"/>
            <a:ext cx="4457700" cy="5357108"/>
          </a:xfrm>
          <a:prstGeom prst="rect">
            <a:avLst/>
          </a:prstGeom>
          <a:noFill/>
        </p:spPr>
        <p:txBody>
          <a:bodyPr wrap="square" rtlCol="0">
            <a:spAutoFit/>
          </a:bodyPr>
          <a:lstStyle/>
          <a:p>
            <a:pPr marL="285750" indent="-285750">
              <a:lnSpc>
                <a:spcPct val="250000"/>
              </a:lnSpc>
              <a:buFont typeface="Courier New" panose="02070309020205020404" pitchFamily="49" charset="0"/>
              <a:buChar char="o"/>
            </a:pPr>
            <a:r>
              <a:rPr lang="en-IN" sz="2000" dirty="0"/>
              <a:t>Executive Summary</a:t>
            </a:r>
          </a:p>
          <a:p>
            <a:pPr marL="285750" indent="-285750">
              <a:lnSpc>
                <a:spcPct val="250000"/>
              </a:lnSpc>
              <a:buFont typeface="Courier New" panose="02070309020205020404" pitchFamily="49" charset="0"/>
              <a:buChar char="o"/>
            </a:pPr>
            <a:r>
              <a:rPr lang="en-IN" sz="2000" dirty="0"/>
              <a:t>Introduction</a:t>
            </a:r>
          </a:p>
          <a:p>
            <a:pPr marL="285750" indent="-285750">
              <a:lnSpc>
                <a:spcPct val="250000"/>
              </a:lnSpc>
              <a:buFont typeface="Courier New" panose="02070309020205020404" pitchFamily="49" charset="0"/>
              <a:buChar char="o"/>
            </a:pPr>
            <a:r>
              <a:rPr lang="en-IN" sz="2000" dirty="0"/>
              <a:t>Methodology</a:t>
            </a:r>
          </a:p>
          <a:p>
            <a:pPr marL="285750" indent="-285750">
              <a:lnSpc>
                <a:spcPct val="250000"/>
              </a:lnSpc>
              <a:buFont typeface="Courier New" panose="02070309020205020404" pitchFamily="49" charset="0"/>
              <a:buChar char="o"/>
            </a:pPr>
            <a:r>
              <a:rPr lang="en-IN" sz="2000" dirty="0"/>
              <a:t>Results</a:t>
            </a:r>
          </a:p>
          <a:p>
            <a:pPr marL="285750" indent="-285750">
              <a:lnSpc>
                <a:spcPct val="250000"/>
              </a:lnSpc>
              <a:buFont typeface="Courier New" panose="02070309020205020404" pitchFamily="49" charset="0"/>
              <a:buChar char="o"/>
            </a:pPr>
            <a:r>
              <a:rPr lang="en-IN" sz="2000" dirty="0"/>
              <a:t>Conclusions</a:t>
            </a:r>
          </a:p>
          <a:p>
            <a:pPr marL="285750" indent="-285750">
              <a:lnSpc>
                <a:spcPct val="250000"/>
              </a:lnSpc>
              <a:buFont typeface="Courier New" panose="02070309020205020404" pitchFamily="49" charset="0"/>
              <a:buChar char="o"/>
            </a:pPr>
            <a:r>
              <a:rPr lang="en-IN" sz="2000" dirty="0"/>
              <a:t>Appendix</a:t>
            </a:r>
          </a:p>
          <a:p>
            <a:pPr marL="285750" indent="-285750">
              <a:lnSpc>
                <a:spcPct val="250000"/>
              </a:lnSpc>
              <a:buFont typeface="Courier New" panose="02070309020205020404" pitchFamily="49" charset="0"/>
              <a:buChar char="o"/>
            </a:pPr>
            <a:endParaRPr lang="en-IN" sz="2000" dirty="0"/>
          </a:p>
        </p:txBody>
      </p:sp>
    </p:spTree>
    <p:extLst>
      <p:ext uri="{BB962C8B-B14F-4D97-AF65-F5344CB8AC3E}">
        <p14:creationId xmlns:p14="http://schemas.microsoft.com/office/powerpoint/2010/main" val="1050578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4000BB-3A10-4927-C2CF-E1F06B840717}"/>
              </a:ext>
            </a:extLst>
          </p:cNvPr>
          <p:cNvSpPr txBox="1"/>
          <p:nvPr/>
        </p:nvSpPr>
        <p:spPr>
          <a:xfrm>
            <a:off x="342900" y="444500"/>
            <a:ext cx="4838700" cy="461665"/>
          </a:xfrm>
          <a:prstGeom prst="rect">
            <a:avLst/>
          </a:prstGeom>
          <a:noFill/>
        </p:spPr>
        <p:txBody>
          <a:bodyPr wrap="square" rtlCol="0">
            <a:spAutoFit/>
          </a:bodyPr>
          <a:lstStyle/>
          <a:p>
            <a:r>
              <a:rPr lang="en-IN" sz="2400" b="1" dirty="0">
                <a:solidFill>
                  <a:schemeClr val="tx2">
                    <a:lumMod val="75000"/>
                    <a:lumOff val="25000"/>
                  </a:schemeClr>
                </a:solidFill>
              </a:rPr>
              <a:t>EXECUTIVE SUMMARY</a:t>
            </a:r>
          </a:p>
        </p:txBody>
      </p:sp>
      <p:cxnSp>
        <p:nvCxnSpPr>
          <p:cNvPr id="4" name="Straight Connector 3">
            <a:extLst>
              <a:ext uri="{FF2B5EF4-FFF2-40B4-BE49-F238E27FC236}">
                <a16:creationId xmlns:a16="http://schemas.microsoft.com/office/drawing/2014/main" id="{84544CFD-0A62-29FC-7DA1-5EFD2C78C1B2}"/>
              </a:ext>
            </a:extLst>
          </p:cNvPr>
          <p:cNvCxnSpPr>
            <a:cxnSpLocks/>
          </p:cNvCxnSpPr>
          <p:nvPr/>
        </p:nvCxnSpPr>
        <p:spPr>
          <a:xfrm flipV="1">
            <a:off x="431800" y="906165"/>
            <a:ext cx="11163300" cy="8235"/>
          </a:xfrm>
          <a:prstGeom prst="line">
            <a:avLst/>
          </a:prstGeom>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9EAF67A5-3F70-95CC-5806-9126A2A99755}"/>
              </a:ext>
            </a:extLst>
          </p:cNvPr>
          <p:cNvSpPr txBox="1"/>
          <p:nvPr/>
        </p:nvSpPr>
        <p:spPr>
          <a:xfrm>
            <a:off x="342900" y="1117600"/>
            <a:ext cx="9166860" cy="3791872"/>
          </a:xfrm>
          <a:prstGeom prst="rect">
            <a:avLst/>
          </a:prstGeom>
          <a:noFill/>
        </p:spPr>
        <p:txBody>
          <a:bodyPr wrap="square" rtlCol="0">
            <a:spAutoFit/>
          </a:bodyPr>
          <a:lstStyle/>
          <a:p>
            <a:pPr marL="342900" indent="-342900">
              <a:lnSpc>
                <a:spcPct val="150000"/>
              </a:lnSpc>
              <a:buFont typeface="+mj-lt"/>
              <a:buAutoNum type="arabicPeriod"/>
            </a:pPr>
            <a:r>
              <a:rPr lang="en-IN" dirty="0"/>
              <a:t>Data Collection of SpaceX using APIs and Web Scraping</a:t>
            </a:r>
          </a:p>
          <a:p>
            <a:pPr marL="342900" indent="-342900">
              <a:lnSpc>
                <a:spcPct val="150000"/>
              </a:lnSpc>
              <a:buFont typeface="+mj-lt"/>
              <a:buAutoNum type="arabicPeriod"/>
            </a:pPr>
            <a:r>
              <a:rPr lang="en-IN" dirty="0"/>
              <a:t>Data Wrangling</a:t>
            </a:r>
          </a:p>
          <a:p>
            <a:pPr marL="342900" indent="-342900">
              <a:lnSpc>
                <a:spcPct val="150000"/>
              </a:lnSpc>
              <a:buFont typeface="+mj-lt"/>
              <a:buAutoNum type="arabicPeriod"/>
            </a:pPr>
            <a:r>
              <a:rPr lang="en-IN" dirty="0"/>
              <a:t>Summary of Methodologies</a:t>
            </a:r>
          </a:p>
          <a:p>
            <a:pPr marL="342900" indent="-342900">
              <a:lnSpc>
                <a:spcPct val="150000"/>
              </a:lnSpc>
              <a:buFont typeface="+mj-lt"/>
              <a:buAutoNum type="arabicPeriod"/>
            </a:pPr>
            <a:r>
              <a:rPr lang="en-IN" dirty="0"/>
              <a:t>Exploratory Data Analysis using SQL &amp; results with screenshots.</a:t>
            </a:r>
          </a:p>
          <a:p>
            <a:pPr marL="342900" indent="-342900">
              <a:lnSpc>
                <a:spcPct val="150000"/>
              </a:lnSpc>
              <a:buFont typeface="+mj-lt"/>
              <a:buAutoNum type="arabicPeriod"/>
            </a:pPr>
            <a:r>
              <a:rPr lang="en-IN" dirty="0"/>
              <a:t>Exploratory Data Analysis with Data Visualization &amp; results with screenshots</a:t>
            </a:r>
          </a:p>
          <a:p>
            <a:pPr marL="342900" indent="-342900">
              <a:lnSpc>
                <a:spcPct val="150000"/>
              </a:lnSpc>
              <a:buFont typeface="+mj-lt"/>
              <a:buAutoNum type="arabicPeriod"/>
            </a:pPr>
            <a:r>
              <a:rPr lang="en-IN" dirty="0"/>
              <a:t>Generation of interactive map with Folium &amp; results with screenshots.</a:t>
            </a:r>
          </a:p>
          <a:p>
            <a:pPr marL="342900" indent="-342900">
              <a:lnSpc>
                <a:spcPct val="150000"/>
              </a:lnSpc>
              <a:buFont typeface="+mj-lt"/>
              <a:buAutoNum type="arabicPeriod"/>
            </a:pPr>
            <a:r>
              <a:rPr lang="en-IN" dirty="0"/>
              <a:t>Building a dashboard with Plotly Dash &amp; results with screenshots.</a:t>
            </a:r>
          </a:p>
          <a:p>
            <a:pPr marL="342900" indent="-342900">
              <a:lnSpc>
                <a:spcPct val="150000"/>
              </a:lnSpc>
              <a:buFont typeface="+mj-lt"/>
              <a:buAutoNum type="arabicPeriod"/>
            </a:pPr>
            <a:r>
              <a:rPr lang="en-IN" dirty="0"/>
              <a:t>Predictive Analysis &amp; results with screenshots.</a:t>
            </a:r>
          </a:p>
          <a:p>
            <a:pPr marL="342900" indent="-342900">
              <a:lnSpc>
                <a:spcPct val="150000"/>
              </a:lnSpc>
              <a:buFont typeface="+mj-lt"/>
              <a:buAutoNum type="arabicPeriod"/>
            </a:pPr>
            <a:r>
              <a:rPr lang="en-IN" dirty="0"/>
              <a:t>Results</a:t>
            </a:r>
          </a:p>
        </p:txBody>
      </p:sp>
    </p:spTree>
    <p:extLst>
      <p:ext uri="{BB962C8B-B14F-4D97-AF65-F5344CB8AC3E}">
        <p14:creationId xmlns:p14="http://schemas.microsoft.com/office/powerpoint/2010/main" val="3179708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578239-3D45-5177-9B1F-922B821C0B0C}"/>
              </a:ext>
            </a:extLst>
          </p:cNvPr>
          <p:cNvSpPr txBox="1"/>
          <p:nvPr/>
        </p:nvSpPr>
        <p:spPr>
          <a:xfrm>
            <a:off x="368300" y="406400"/>
            <a:ext cx="4483100" cy="461665"/>
          </a:xfrm>
          <a:prstGeom prst="rect">
            <a:avLst/>
          </a:prstGeom>
          <a:noFill/>
        </p:spPr>
        <p:txBody>
          <a:bodyPr wrap="square" rtlCol="0">
            <a:spAutoFit/>
          </a:bodyPr>
          <a:lstStyle/>
          <a:p>
            <a:r>
              <a:rPr lang="en-IN" sz="2400" b="1" dirty="0">
                <a:solidFill>
                  <a:schemeClr val="tx2">
                    <a:lumMod val="75000"/>
                    <a:lumOff val="25000"/>
                  </a:schemeClr>
                </a:solidFill>
              </a:rPr>
              <a:t>INTRODUCTION</a:t>
            </a:r>
          </a:p>
        </p:txBody>
      </p:sp>
      <p:cxnSp>
        <p:nvCxnSpPr>
          <p:cNvPr id="4" name="Straight Connector 3">
            <a:extLst>
              <a:ext uri="{FF2B5EF4-FFF2-40B4-BE49-F238E27FC236}">
                <a16:creationId xmlns:a16="http://schemas.microsoft.com/office/drawing/2014/main" id="{5B4C1527-8DB1-673A-22E8-D0567B9FC59B}"/>
              </a:ext>
            </a:extLst>
          </p:cNvPr>
          <p:cNvCxnSpPr>
            <a:cxnSpLocks/>
          </p:cNvCxnSpPr>
          <p:nvPr/>
        </p:nvCxnSpPr>
        <p:spPr>
          <a:xfrm flipV="1">
            <a:off x="457200" y="774700"/>
            <a:ext cx="11099800" cy="93365"/>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C7E3BD5D-66B1-6CE4-A25B-DE3403D6921B}"/>
              </a:ext>
            </a:extLst>
          </p:cNvPr>
          <p:cNvSpPr txBox="1"/>
          <p:nvPr/>
        </p:nvSpPr>
        <p:spPr>
          <a:xfrm>
            <a:off x="368300" y="1318342"/>
            <a:ext cx="11676216" cy="1569660"/>
          </a:xfrm>
          <a:prstGeom prst="rect">
            <a:avLst/>
          </a:prstGeom>
          <a:noFill/>
        </p:spPr>
        <p:txBody>
          <a:bodyPr wrap="square" rtlCol="0">
            <a:spAutoFit/>
          </a:bodyPr>
          <a:lstStyle/>
          <a:p>
            <a:r>
              <a:rPr lang="en-US" sz="2400" b="1" dirty="0"/>
              <a:t>About the project:</a:t>
            </a:r>
          </a:p>
          <a:p>
            <a:r>
              <a:rPr lang="en-US" dirty="0"/>
              <a:t>SpaceX advertises rocket launches at a significantly lower cost compared to other providers, largely due to their ability to reuse the first stage of the rocket. The aim of this capstone project is to predict whether the Falcon 9 first stage will land successfully or not, which will help us in determining the cost of SpaceX rocket launches. The competitor companies can also use the findings to bid against SpaceX for a rocket launch.</a:t>
            </a:r>
          </a:p>
        </p:txBody>
      </p:sp>
      <p:sp>
        <p:nvSpPr>
          <p:cNvPr id="3" name="TextBox 2">
            <a:extLst>
              <a:ext uri="{FF2B5EF4-FFF2-40B4-BE49-F238E27FC236}">
                <a16:creationId xmlns:a16="http://schemas.microsoft.com/office/drawing/2014/main" id="{D7D3CE82-B0C1-B7BE-0DEC-A19A2C3927F1}"/>
              </a:ext>
            </a:extLst>
          </p:cNvPr>
          <p:cNvSpPr txBox="1"/>
          <p:nvPr/>
        </p:nvSpPr>
        <p:spPr>
          <a:xfrm>
            <a:off x="368300" y="3429000"/>
            <a:ext cx="11099800" cy="1292662"/>
          </a:xfrm>
          <a:prstGeom prst="rect">
            <a:avLst/>
          </a:prstGeom>
          <a:noFill/>
        </p:spPr>
        <p:txBody>
          <a:bodyPr wrap="square" rtlCol="0">
            <a:spAutoFit/>
          </a:bodyPr>
          <a:lstStyle/>
          <a:p>
            <a:r>
              <a:rPr lang="en-IN" sz="2400" b="1" dirty="0"/>
              <a:t>Questions to be answered:</a:t>
            </a:r>
          </a:p>
          <a:p>
            <a:pPr marL="285750" indent="-285750">
              <a:buFont typeface="Arial" panose="020B0604020202020204" pitchFamily="34" charset="0"/>
              <a:buChar char="•"/>
            </a:pPr>
            <a:r>
              <a:rPr lang="en-US" dirty="0"/>
              <a:t>What factors influence the successful landing of the Falcon 9 first stage? </a:t>
            </a:r>
          </a:p>
          <a:p>
            <a:pPr marL="285750" indent="-285750">
              <a:buFont typeface="Arial" panose="020B0604020202020204" pitchFamily="34" charset="0"/>
              <a:buChar char="•"/>
            </a:pPr>
            <a:r>
              <a:rPr lang="en-US" dirty="0"/>
              <a:t>How can we accurately predict the landing outcome using machine learning models?</a:t>
            </a:r>
          </a:p>
          <a:p>
            <a:pPr marL="285750" indent="-285750">
              <a:buFont typeface="Arial" panose="020B0604020202020204" pitchFamily="34" charset="0"/>
              <a:buChar char="•"/>
            </a:pPr>
            <a:r>
              <a:rPr lang="en-US" dirty="0"/>
              <a:t>Which machine learning model performs best in predicting the landing success?</a:t>
            </a:r>
            <a:endParaRPr lang="en-IN" dirty="0"/>
          </a:p>
        </p:txBody>
      </p:sp>
    </p:spTree>
    <p:extLst>
      <p:ext uri="{BB962C8B-B14F-4D97-AF65-F5344CB8AC3E}">
        <p14:creationId xmlns:p14="http://schemas.microsoft.com/office/powerpoint/2010/main" val="4209517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308EDA8-EAAD-9397-2197-81F3B078580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5882" b="-1"/>
          <a:stretch>
            <a:fillRect/>
          </a:stretch>
        </p:blipFill>
        <p:spPr>
          <a:xfrm>
            <a:off x="2522358" y="10"/>
            <a:ext cx="9669642" cy="6857990"/>
          </a:xfrm>
          <a:prstGeom prst="rect">
            <a:avLst/>
          </a:prstGeom>
        </p:spPr>
      </p:pic>
      <p:sp>
        <p:nvSpPr>
          <p:cNvPr id="22" name="Rectangle 21">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49FC610-90A0-05F1-0CC9-05259BF183DB}"/>
              </a:ext>
            </a:extLst>
          </p:cNvPr>
          <p:cNvSpPr txBox="1"/>
          <p:nvPr/>
        </p:nvSpPr>
        <p:spPr>
          <a:xfrm>
            <a:off x="624146" y="3047999"/>
            <a:ext cx="5818686" cy="527504"/>
          </a:xfrm>
          <a:prstGeom prst="rect">
            <a:avLst/>
          </a:prstGeom>
          <a:noFill/>
        </p:spPr>
        <p:txBody>
          <a:bodyPr vert="horz" lIns="91440" tIns="45720" rIns="91440" bIns="45720" rtlCol="0" anchor="b">
            <a:normAutofit/>
          </a:bodyPr>
          <a:lstStyle/>
          <a:p>
            <a:pPr>
              <a:lnSpc>
                <a:spcPct val="90000"/>
              </a:lnSpc>
              <a:spcBef>
                <a:spcPct val="0"/>
              </a:spcBef>
              <a:spcAft>
                <a:spcPts val="600"/>
              </a:spcAft>
            </a:pPr>
            <a:r>
              <a:rPr lang="en-US" sz="2400" b="1" dirty="0">
                <a:solidFill>
                  <a:schemeClr val="tx2">
                    <a:lumMod val="75000"/>
                    <a:lumOff val="25000"/>
                  </a:schemeClr>
                </a:solidFill>
                <a:latin typeface="+mj-lt"/>
                <a:ea typeface="+mj-ea"/>
                <a:cs typeface="+mj-cs"/>
              </a:rPr>
              <a:t>METHODOLOGY</a:t>
            </a:r>
          </a:p>
        </p:txBody>
      </p:sp>
    </p:spTree>
    <p:extLst>
      <p:ext uri="{BB962C8B-B14F-4D97-AF65-F5344CB8AC3E}">
        <p14:creationId xmlns:p14="http://schemas.microsoft.com/office/powerpoint/2010/main" val="283247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30485-860A-61DD-BE73-512BEA5E0796}"/>
              </a:ext>
            </a:extLst>
          </p:cNvPr>
          <p:cNvSpPr txBox="1"/>
          <p:nvPr/>
        </p:nvSpPr>
        <p:spPr>
          <a:xfrm>
            <a:off x="317500" y="419100"/>
            <a:ext cx="7683500" cy="461665"/>
          </a:xfrm>
          <a:prstGeom prst="rect">
            <a:avLst/>
          </a:prstGeom>
          <a:noFill/>
        </p:spPr>
        <p:txBody>
          <a:bodyPr wrap="square" rtlCol="0">
            <a:spAutoFit/>
          </a:bodyPr>
          <a:lstStyle/>
          <a:p>
            <a:r>
              <a:rPr lang="en-IN" sz="2400" b="1" dirty="0">
                <a:solidFill>
                  <a:schemeClr val="tx2">
                    <a:lumMod val="75000"/>
                    <a:lumOff val="25000"/>
                  </a:schemeClr>
                </a:solidFill>
              </a:rPr>
              <a:t>DATA COLLECTION &amp; WRANGLING METHODOLOGY</a:t>
            </a:r>
          </a:p>
        </p:txBody>
      </p:sp>
      <p:cxnSp>
        <p:nvCxnSpPr>
          <p:cNvPr id="4" name="Straight Connector 3">
            <a:extLst>
              <a:ext uri="{FF2B5EF4-FFF2-40B4-BE49-F238E27FC236}">
                <a16:creationId xmlns:a16="http://schemas.microsoft.com/office/drawing/2014/main" id="{82289CF5-186E-B08B-133C-5BD5B4C3325B}"/>
              </a:ext>
            </a:extLst>
          </p:cNvPr>
          <p:cNvCxnSpPr/>
          <p:nvPr/>
        </p:nvCxnSpPr>
        <p:spPr>
          <a:xfrm>
            <a:off x="406400" y="863600"/>
            <a:ext cx="1132840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E29E3E12-AB20-0FDE-F5CF-03390E0BC03F}"/>
              </a:ext>
            </a:extLst>
          </p:cNvPr>
          <p:cNvSpPr txBox="1"/>
          <p:nvPr/>
        </p:nvSpPr>
        <p:spPr>
          <a:xfrm>
            <a:off x="317500" y="1122065"/>
            <a:ext cx="11684000" cy="5109091"/>
          </a:xfrm>
          <a:prstGeom prst="rect">
            <a:avLst/>
          </a:prstGeom>
          <a:noFill/>
        </p:spPr>
        <p:txBody>
          <a:bodyPr wrap="square" rtlCol="0">
            <a:spAutoFit/>
          </a:bodyPr>
          <a:lstStyle/>
          <a:p>
            <a:r>
              <a:rPr lang="en-IN" sz="2000" b="1" dirty="0">
                <a:solidFill>
                  <a:schemeClr val="tx2">
                    <a:lumMod val="75000"/>
                    <a:lumOff val="25000"/>
                  </a:schemeClr>
                </a:solidFill>
              </a:rPr>
              <a:t>1- DATA COLLECTION:</a:t>
            </a:r>
          </a:p>
          <a:p>
            <a:br>
              <a:rPr lang="en-IN" dirty="0"/>
            </a:br>
            <a:r>
              <a:rPr lang="en-IN" dirty="0"/>
              <a:t>Data collection was done using SpaceX API and Web Scraping. The records obtained from these two methods were later combined to form a cohesive dataset of relevant data and was turned into a csv file.</a:t>
            </a:r>
          </a:p>
          <a:p>
            <a:endParaRPr lang="en-IN" b="1" dirty="0"/>
          </a:p>
          <a:p>
            <a:r>
              <a:rPr lang="en-IN" b="1" dirty="0"/>
              <a:t>Data Collection using SpaceX API:</a:t>
            </a:r>
          </a:p>
          <a:p>
            <a:pPr marL="285750" indent="-285750">
              <a:buFont typeface="Arial" panose="020B0604020202020204" pitchFamily="34" charset="0"/>
              <a:buChar char="•"/>
            </a:pPr>
            <a:r>
              <a:rPr lang="en-IN" dirty="0"/>
              <a:t>Collected date with help of API requests from </a:t>
            </a:r>
            <a:r>
              <a:rPr lang="en-IN" dirty="0" err="1"/>
              <a:t>SpeceX</a:t>
            </a:r>
            <a:r>
              <a:rPr lang="en-IN" dirty="0"/>
              <a:t> REST API.</a:t>
            </a:r>
          </a:p>
          <a:p>
            <a:pPr marL="285750" indent="-285750">
              <a:buFont typeface="Arial" panose="020B0604020202020204" pitchFamily="34" charset="0"/>
              <a:buChar char="•"/>
            </a:pPr>
            <a:r>
              <a:rPr lang="en-US" dirty="0"/>
              <a:t>Decoding the response content using </a:t>
            </a:r>
            <a:r>
              <a:rPr lang="en-US" dirty="0" err="1"/>
              <a:t>json</a:t>
            </a:r>
            <a:r>
              <a:rPr lang="en-US" dirty="0"/>
              <a:t>() and turning it into a </a:t>
            </a:r>
            <a:r>
              <a:rPr lang="en-US" dirty="0" err="1"/>
              <a:t>dataframe</a:t>
            </a:r>
            <a:r>
              <a:rPr lang="en-US" dirty="0"/>
              <a:t> using </a:t>
            </a:r>
            <a:r>
              <a:rPr lang="en-US" dirty="0" err="1"/>
              <a:t>json_normalize</a:t>
            </a:r>
            <a:r>
              <a:rPr lang="en-US" dirty="0"/>
              <a:t>().</a:t>
            </a:r>
          </a:p>
          <a:p>
            <a:pPr marL="285750" indent="-285750">
              <a:buFont typeface="Arial" panose="020B0604020202020204" pitchFamily="34" charset="0"/>
              <a:buChar char="•"/>
            </a:pPr>
            <a:r>
              <a:rPr lang="en-US" dirty="0"/>
              <a:t>Created </a:t>
            </a:r>
            <a:r>
              <a:rPr lang="en-US" dirty="0" err="1"/>
              <a:t>dataframe</a:t>
            </a:r>
            <a:r>
              <a:rPr lang="en-US" dirty="0"/>
              <a:t> and filtered the </a:t>
            </a:r>
            <a:r>
              <a:rPr lang="en-US" dirty="0" err="1"/>
              <a:t>dataframe</a:t>
            </a:r>
            <a:r>
              <a:rPr lang="en-US" dirty="0"/>
              <a:t> it includes Falcon 9 launches only.</a:t>
            </a:r>
            <a:endParaRPr lang="en-IN" dirty="0"/>
          </a:p>
          <a:p>
            <a:pPr marL="285750" indent="-285750">
              <a:buFont typeface="Arial" panose="020B0604020202020204" pitchFamily="34" charset="0"/>
              <a:buChar char="•"/>
            </a:pPr>
            <a:r>
              <a:rPr lang="en-IN" dirty="0"/>
              <a:t>The columns which were obtained by using SpaceX REST API – FlightNumber, Date, </a:t>
            </a:r>
            <a:r>
              <a:rPr lang="en-IN" dirty="0" err="1"/>
              <a:t>BoosterVersion</a:t>
            </a:r>
            <a:r>
              <a:rPr lang="en-IN" dirty="0"/>
              <a:t>, </a:t>
            </a:r>
            <a:r>
              <a:rPr lang="en-IN" dirty="0" err="1"/>
              <a:t>PayloadMass</a:t>
            </a:r>
            <a:r>
              <a:rPr lang="en-IN" dirty="0"/>
              <a:t>, Orbit, </a:t>
            </a:r>
            <a:r>
              <a:rPr lang="en-IN" dirty="0" err="1"/>
              <a:t>LaunchSite</a:t>
            </a:r>
            <a:r>
              <a:rPr lang="en-IN" dirty="0"/>
              <a:t>, Outcome, Flights, </a:t>
            </a:r>
            <a:r>
              <a:rPr lang="en-IN" dirty="0" err="1"/>
              <a:t>GridFins</a:t>
            </a:r>
            <a:r>
              <a:rPr lang="en-IN" dirty="0"/>
              <a:t>, Reused, Legs, </a:t>
            </a:r>
            <a:r>
              <a:rPr lang="en-IN" dirty="0" err="1"/>
              <a:t>LandingPad</a:t>
            </a:r>
            <a:r>
              <a:rPr lang="en-IN" dirty="0"/>
              <a:t>, Block, </a:t>
            </a:r>
            <a:r>
              <a:rPr lang="en-IN" dirty="0" err="1"/>
              <a:t>ReusedCount</a:t>
            </a:r>
            <a:r>
              <a:rPr lang="en-IN" dirty="0"/>
              <a:t>, Serial, Longitude, Latitude.</a:t>
            </a:r>
          </a:p>
          <a:p>
            <a:endParaRPr lang="en-IN" dirty="0"/>
          </a:p>
          <a:p>
            <a:r>
              <a:rPr lang="en-IN" b="1" dirty="0"/>
              <a:t>Data Collection Using Web Scraping:</a:t>
            </a:r>
          </a:p>
          <a:p>
            <a:pPr marL="285750" indent="-285750">
              <a:buFont typeface="Arial" panose="020B0604020202020204" pitchFamily="34" charset="0"/>
              <a:buChar char="•"/>
            </a:pPr>
            <a:r>
              <a:rPr lang="en-US" dirty="0"/>
              <a:t>Requesting Falcon 9 launch data from Wikipedia.</a:t>
            </a:r>
          </a:p>
          <a:p>
            <a:pPr marL="285750" indent="-285750">
              <a:buFont typeface="Arial" panose="020B0604020202020204" pitchFamily="34" charset="0"/>
              <a:buChar char="•"/>
            </a:pPr>
            <a:r>
              <a:rPr lang="en-US" dirty="0"/>
              <a:t>Creating a </a:t>
            </a:r>
            <a:r>
              <a:rPr lang="en-US" dirty="0" err="1"/>
              <a:t>BeautifulSoup</a:t>
            </a:r>
            <a:r>
              <a:rPr lang="en-US" dirty="0"/>
              <a:t> object from the HTML response and collecting the data by parsing HTML tables.</a:t>
            </a:r>
          </a:p>
          <a:p>
            <a:pPr marL="285750" indent="-285750">
              <a:buFont typeface="Arial" panose="020B0604020202020204" pitchFamily="34" charset="0"/>
              <a:buChar char="•"/>
            </a:pPr>
            <a:r>
              <a:rPr lang="en-US" dirty="0"/>
              <a:t>The columns obtained after web scraping </a:t>
            </a:r>
            <a:r>
              <a:rPr lang="en-IN" dirty="0"/>
              <a:t>– </a:t>
            </a:r>
            <a:r>
              <a:rPr lang="en-US" dirty="0"/>
              <a:t>Flight No., Launch site, Payload, </a:t>
            </a:r>
            <a:r>
              <a:rPr lang="en-US" dirty="0" err="1"/>
              <a:t>PayloadMass</a:t>
            </a:r>
            <a:r>
              <a:rPr lang="en-US" dirty="0"/>
              <a:t>, Orbit, Customer, Launch outcome, Version Booster, Booster landing, Date, Time.</a:t>
            </a:r>
          </a:p>
        </p:txBody>
      </p:sp>
      <p:sp>
        <p:nvSpPr>
          <p:cNvPr id="7" name="TextBox 6">
            <a:extLst>
              <a:ext uri="{FF2B5EF4-FFF2-40B4-BE49-F238E27FC236}">
                <a16:creationId xmlns:a16="http://schemas.microsoft.com/office/drawing/2014/main" id="{F12BA173-640E-1D65-3147-EC3CEEB15600}"/>
              </a:ext>
            </a:extLst>
          </p:cNvPr>
          <p:cNvSpPr txBox="1"/>
          <p:nvPr/>
        </p:nvSpPr>
        <p:spPr>
          <a:xfrm>
            <a:off x="1299410" y="6581001"/>
            <a:ext cx="10520414" cy="276999"/>
          </a:xfrm>
          <a:prstGeom prst="rect">
            <a:avLst/>
          </a:prstGeom>
          <a:noFill/>
        </p:spPr>
        <p:txBody>
          <a:bodyPr wrap="square" rtlCol="0">
            <a:spAutoFit/>
          </a:bodyPr>
          <a:lstStyle/>
          <a:p>
            <a:r>
              <a:rPr lang="en-IN" sz="1200" dirty="0" err="1"/>
              <a:t>Github</a:t>
            </a:r>
            <a:r>
              <a:rPr lang="en-IN" sz="1200" dirty="0"/>
              <a:t> URL: </a:t>
            </a:r>
            <a:r>
              <a:rPr lang="en-IN" sz="1200" dirty="0">
                <a:hlinkClick r:id="rId2"/>
              </a:rPr>
              <a:t>https://github.com/Gauribuild/IBM-Applied-Data-Science-Capstone/blob/main/jupyter-labs-spacex-data-collection-api%20(1).ipynb</a:t>
            </a:r>
            <a:endParaRPr lang="en-IN" sz="1200" dirty="0"/>
          </a:p>
        </p:txBody>
      </p:sp>
    </p:spTree>
    <p:extLst>
      <p:ext uri="{BB962C8B-B14F-4D97-AF65-F5344CB8AC3E}">
        <p14:creationId xmlns:p14="http://schemas.microsoft.com/office/powerpoint/2010/main" val="3382615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837513-8DFD-7916-9D7F-70F0AC91FCA3}"/>
              </a:ext>
            </a:extLst>
          </p:cNvPr>
          <p:cNvSpPr txBox="1"/>
          <p:nvPr/>
        </p:nvSpPr>
        <p:spPr>
          <a:xfrm>
            <a:off x="304800" y="787400"/>
            <a:ext cx="12115800" cy="2923877"/>
          </a:xfrm>
          <a:prstGeom prst="rect">
            <a:avLst/>
          </a:prstGeom>
          <a:noFill/>
        </p:spPr>
        <p:txBody>
          <a:bodyPr wrap="square" rtlCol="0">
            <a:spAutoFit/>
          </a:bodyPr>
          <a:lstStyle/>
          <a:p>
            <a:r>
              <a:rPr lang="en-IN" sz="2000" b="1" dirty="0">
                <a:solidFill>
                  <a:schemeClr val="tx2">
                    <a:lumMod val="75000"/>
                    <a:lumOff val="25000"/>
                  </a:schemeClr>
                </a:solidFill>
              </a:rPr>
              <a:t>2- DATA WRANGLING:</a:t>
            </a:r>
          </a:p>
          <a:p>
            <a:endParaRPr lang="en-IN" sz="2000" b="1" dirty="0">
              <a:solidFill>
                <a:schemeClr val="tx2">
                  <a:lumMod val="75000"/>
                  <a:lumOff val="25000"/>
                </a:schemeClr>
              </a:solidFill>
            </a:endParaRPr>
          </a:p>
          <a:p>
            <a:pPr marL="285750" indent="-285750">
              <a:buFont typeface="Arial" panose="020B0604020202020204" pitchFamily="34" charset="0"/>
              <a:buChar char="•"/>
            </a:pPr>
            <a:r>
              <a:rPr lang="en-US" dirty="0"/>
              <a:t>Data wrangling involves cleaning, transforming, and organizing raw data into a structured format suitable for analysis.</a:t>
            </a:r>
          </a:p>
          <a:p>
            <a:pPr marL="285750" indent="-285750">
              <a:buFont typeface="Arial" panose="020B0604020202020204" pitchFamily="34" charset="0"/>
              <a:buChar char="•"/>
            </a:pPr>
            <a:r>
              <a:rPr lang="en-US" dirty="0"/>
              <a:t>The data collected with API and web scraping was integrated using data wrangling.</a:t>
            </a:r>
          </a:p>
          <a:p>
            <a:pPr marL="285750" indent="-285750">
              <a:buFont typeface="Arial" panose="020B0604020202020204" pitchFamily="34" charset="0"/>
              <a:buChar char="•"/>
            </a:pPr>
            <a:r>
              <a:rPr lang="en-US" dirty="0"/>
              <a:t>Identified data inconsistencies and filled/removed missing values in the dataset.</a:t>
            </a:r>
          </a:p>
          <a:p>
            <a:pPr marL="285750" indent="-285750">
              <a:buFont typeface="Arial" panose="020B0604020202020204" pitchFamily="34" charset="0"/>
              <a:buChar char="•"/>
            </a:pPr>
            <a:r>
              <a:rPr lang="en-US" dirty="0"/>
              <a:t>Ensured the column names and data formats across datasets is consistent. </a:t>
            </a:r>
          </a:p>
          <a:p>
            <a:pPr marL="285750" indent="-285750">
              <a:buFont typeface="Arial" panose="020B0604020202020204" pitchFamily="34" charset="0"/>
              <a:buChar char="•"/>
            </a:pPr>
            <a:r>
              <a:rPr lang="en-US" dirty="0"/>
              <a:t>Converted</a:t>
            </a:r>
            <a:r>
              <a:rPr lang="en-IN" dirty="0"/>
              <a:t> data types into appropriate formats and standardized the text.</a:t>
            </a:r>
          </a:p>
          <a:p>
            <a:pPr marL="285750" indent="-285750">
              <a:buFont typeface="Arial" panose="020B0604020202020204" pitchFamily="34" charset="0"/>
              <a:buChar char="•"/>
            </a:pPr>
            <a:r>
              <a:rPr lang="en-US" dirty="0"/>
              <a:t>Checked for duplicate records and removed them.</a:t>
            </a:r>
          </a:p>
          <a:p>
            <a:pPr marL="285750" indent="-285750">
              <a:buFont typeface="Arial" panose="020B0604020202020204" pitchFamily="34" charset="0"/>
              <a:buChar char="•"/>
            </a:pPr>
            <a:r>
              <a:rPr lang="en-US" dirty="0"/>
              <a:t>Verified the accuracy and consistency of data entries.</a:t>
            </a:r>
          </a:p>
          <a:p>
            <a:pPr marL="285750" indent="-285750">
              <a:buFont typeface="Arial" panose="020B0604020202020204" pitchFamily="34" charset="0"/>
              <a:buChar char="•"/>
            </a:pPr>
            <a:r>
              <a:rPr lang="en-US" dirty="0"/>
              <a:t>Selected relevant features for analysis and selected relevant features for analysis.</a:t>
            </a:r>
            <a:endParaRPr lang="en-US" b="1" dirty="0">
              <a:solidFill>
                <a:schemeClr val="tx2">
                  <a:lumMod val="75000"/>
                  <a:lumOff val="25000"/>
                </a:schemeClr>
              </a:solidFill>
            </a:endParaRPr>
          </a:p>
        </p:txBody>
      </p:sp>
      <p:sp>
        <p:nvSpPr>
          <p:cNvPr id="3" name="TextBox 2">
            <a:extLst>
              <a:ext uri="{FF2B5EF4-FFF2-40B4-BE49-F238E27FC236}">
                <a16:creationId xmlns:a16="http://schemas.microsoft.com/office/drawing/2014/main" id="{52B56CC1-5545-7849-727E-5BC578F78F49}"/>
              </a:ext>
            </a:extLst>
          </p:cNvPr>
          <p:cNvSpPr txBox="1"/>
          <p:nvPr/>
        </p:nvSpPr>
        <p:spPr>
          <a:xfrm>
            <a:off x="1631883" y="6468177"/>
            <a:ext cx="9461633" cy="276999"/>
          </a:xfrm>
          <a:prstGeom prst="rect">
            <a:avLst/>
          </a:prstGeom>
          <a:noFill/>
        </p:spPr>
        <p:txBody>
          <a:bodyPr wrap="square" rtlCol="0">
            <a:spAutoFit/>
          </a:bodyPr>
          <a:lstStyle/>
          <a:p>
            <a:r>
              <a:rPr lang="en-IN" sz="1200" dirty="0" err="1"/>
              <a:t>Github</a:t>
            </a:r>
            <a:r>
              <a:rPr lang="en-IN" sz="1200" dirty="0"/>
              <a:t> URL: </a:t>
            </a:r>
            <a:r>
              <a:rPr lang="en-IN" sz="1200" dirty="0">
                <a:hlinkClick r:id="rId2" action="ppaction://hlinksldjump"/>
              </a:rPr>
              <a:t>https://github.com/Gauribuild/IBM-Applied-Data-Science-Capstone/blob/main/labs-jupyter-spacex-Data%20wrangling.ipynb</a:t>
            </a:r>
            <a:endParaRPr lang="en-IN" sz="1200" dirty="0"/>
          </a:p>
        </p:txBody>
      </p:sp>
      <p:sp>
        <p:nvSpPr>
          <p:cNvPr id="4" name="TextBox 3">
            <a:extLst>
              <a:ext uri="{FF2B5EF4-FFF2-40B4-BE49-F238E27FC236}">
                <a16:creationId xmlns:a16="http://schemas.microsoft.com/office/drawing/2014/main" id="{E413B2D6-6195-AA4C-DD6C-7DC9CB26AC56}"/>
              </a:ext>
            </a:extLst>
          </p:cNvPr>
          <p:cNvSpPr txBox="1"/>
          <p:nvPr/>
        </p:nvSpPr>
        <p:spPr>
          <a:xfrm>
            <a:off x="1631881" y="6191178"/>
            <a:ext cx="9538636" cy="276999"/>
          </a:xfrm>
          <a:prstGeom prst="rect">
            <a:avLst/>
          </a:prstGeom>
          <a:noFill/>
        </p:spPr>
        <p:txBody>
          <a:bodyPr wrap="square" rtlCol="0">
            <a:spAutoFit/>
          </a:bodyPr>
          <a:lstStyle/>
          <a:p>
            <a:r>
              <a:rPr lang="en-IN" sz="1200" dirty="0" err="1"/>
              <a:t>Github</a:t>
            </a:r>
            <a:r>
              <a:rPr lang="en-IN" sz="1200" dirty="0"/>
              <a:t> URL: </a:t>
            </a:r>
            <a:r>
              <a:rPr lang="en-IN" sz="1200" dirty="0">
                <a:hlinkClick r:id="rId2" action="ppaction://hlinksldjump"/>
              </a:rPr>
              <a:t>https://github.com/Gauribuild/IBM-Applied-Data-Science-Capstone/blob/main/jupyter-labs-webscraping.ipynb</a:t>
            </a:r>
            <a:endParaRPr lang="en-IN" sz="1200" dirty="0"/>
          </a:p>
        </p:txBody>
      </p:sp>
    </p:spTree>
    <p:extLst>
      <p:ext uri="{BB962C8B-B14F-4D97-AF65-F5344CB8AC3E}">
        <p14:creationId xmlns:p14="http://schemas.microsoft.com/office/powerpoint/2010/main" val="2799109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44EAD0-0BDD-C787-DC5A-2400644A894F}"/>
              </a:ext>
            </a:extLst>
          </p:cNvPr>
          <p:cNvSpPr txBox="1"/>
          <p:nvPr/>
        </p:nvSpPr>
        <p:spPr>
          <a:xfrm>
            <a:off x="393700" y="393700"/>
            <a:ext cx="8788400" cy="461665"/>
          </a:xfrm>
          <a:prstGeom prst="rect">
            <a:avLst/>
          </a:prstGeom>
          <a:noFill/>
        </p:spPr>
        <p:txBody>
          <a:bodyPr wrap="square" rtlCol="0">
            <a:spAutoFit/>
          </a:bodyPr>
          <a:lstStyle/>
          <a:p>
            <a:r>
              <a:rPr lang="en-IN" sz="2400" b="1" dirty="0">
                <a:solidFill>
                  <a:schemeClr val="tx2">
                    <a:lumMod val="75000"/>
                    <a:lumOff val="25000"/>
                  </a:schemeClr>
                </a:solidFill>
              </a:rPr>
              <a:t>EDA WITH SQL</a:t>
            </a:r>
          </a:p>
        </p:txBody>
      </p:sp>
      <p:cxnSp>
        <p:nvCxnSpPr>
          <p:cNvPr id="4" name="Straight Connector 3">
            <a:extLst>
              <a:ext uri="{FF2B5EF4-FFF2-40B4-BE49-F238E27FC236}">
                <a16:creationId xmlns:a16="http://schemas.microsoft.com/office/drawing/2014/main" id="{1B7FB261-70FB-DF94-AE79-47805D496917}"/>
              </a:ext>
            </a:extLst>
          </p:cNvPr>
          <p:cNvCxnSpPr/>
          <p:nvPr/>
        </p:nvCxnSpPr>
        <p:spPr>
          <a:xfrm>
            <a:off x="482600" y="855365"/>
            <a:ext cx="11315700"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25E8A83F-E27C-9C8B-642B-F29804EC32F3}"/>
              </a:ext>
            </a:extLst>
          </p:cNvPr>
          <p:cNvPicPr>
            <a:picLocks noChangeAspect="1"/>
          </p:cNvPicPr>
          <p:nvPr/>
        </p:nvPicPr>
        <p:blipFill>
          <a:blip r:embed="rId2">
            <a:extLst>
              <a:ext uri="{28A0092B-C50C-407E-A947-70E740481C1C}">
                <a14:useLocalDpi xmlns:a14="http://schemas.microsoft.com/office/drawing/2010/main" val="0"/>
              </a:ext>
            </a:extLst>
          </a:blip>
          <a:srcRect r="17391"/>
          <a:stretch>
            <a:fillRect/>
          </a:stretch>
        </p:blipFill>
        <p:spPr>
          <a:xfrm>
            <a:off x="482600" y="4052950"/>
            <a:ext cx="4343399" cy="2257205"/>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6209D78A-A38B-64D0-D29C-A4618ADDD750}"/>
              </a:ext>
            </a:extLst>
          </p:cNvPr>
          <p:cNvSpPr txBox="1"/>
          <p:nvPr/>
        </p:nvSpPr>
        <p:spPr>
          <a:xfrm>
            <a:off x="381000" y="3576184"/>
            <a:ext cx="5029200" cy="369332"/>
          </a:xfrm>
          <a:prstGeom prst="rect">
            <a:avLst/>
          </a:prstGeom>
          <a:noFill/>
        </p:spPr>
        <p:txBody>
          <a:bodyPr wrap="square" rtlCol="0">
            <a:spAutoFit/>
          </a:bodyPr>
          <a:lstStyle/>
          <a:p>
            <a:r>
              <a:rPr lang="en-IN" dirty="0">
                <a:solidFill>
                  <a:schemeClr val="bg2">
                    <a:lumMod val="50000"/>
                  </a:schemeClr>
                </a:solidFill>
              </a:rPr>
              <a:t>Displayed the names of all distinct launch sites</a:t>
            </a:r>
          </a:p>
        </p:txBody>
      </p:sp>
      <p:sp>
        <p:nvSpPr>
          <p:cNvPr id="8" name="TextBox 7">
            <a:extLst>
              <a:ext uri="{FF2B5EF4-FFF2-40B4-BE49-F238E27FC236}">
                <a16:creationId xmlns:a16="http://schemas.microsoft.com/office/drawing/2014/main" id="{584494A7-D05D-967D-F951-8979F927CCC6}"/>
              </a:ext>
            </a:extLst>
          </p:cNvPr>
          <p:cNvSpPr txBox="1"/>
          <p:nvPr/>
        </p:nvSpPr>
        <p:spPr>
          <a:xfrm>
            <a:off x="393700" y="3098125"/>
            <a:ext cx="5092700" cy="461665"/>
          </a:xfrm>
          <a:prstGeom prst="rect">
            <a:avLst/>
          </a:prstGeom>
          <a:noFill/>
        </p:spPr>
        <p:txBody>
          <a:bodyPr wrap="square" rtlCol="0">
            <a:spAutoFit/>
          </a:bodyPr>
          <a:lstStyle/>
          <a:p>
            <a:r>
              <a:rPr lang="en-IN" sz="2400" b="1" dirty="0">
                <a:solidFill>
                  <a:schemeClr val="tx2">
                    <a:lumMod val="75000"/>
                    <a:lumOff val="25000"/>
                  </a:schemeClr>
                </a:solidFill>
              </a:rPr>
              <a:t>INSIGHTS FROM EDA WITH SQL:</a:t>
            </a:r>
          </a:p>
        </p:txBody>
      </p:sp>
      <p:cxnSp>
        <p:nvCxnSpPr>
          <p:cNvPr id="9" name="Straight Connector 8">
            <a:extLst>
              <a:ext uri="{FF2B5EF4-FFF2-40B4-BE49-F238E27FC236}">
                <a16:creationId xmlns:a16="http://schemas.microsoft.com/office/drawing/2014/main" id="{153B7A66-0288-492B-FF01-9C914F1447DE}"/>
              </a:ext>
            </a:extLst>
          </p:cNvPr>
          <p:cNvCxnSpPr/>
          <p:nvPr/>
        </p:nvCxnSpPr>
        <p:spPr>
          <a:xfrm>
            <a:off x="461090" y="3548122"/>
            <a:ext cx="113157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71361F1-641E-F96F-AA9B-875C2E99B431}"/>
              </a:ext>
            </a:extLst>
          </p:cNvPr>
          <p:cNvCxnSpPr>
            <a:cxnSpLocks/>
          </p:cNvCxnSpPr>
          <p:nvPr/>
        </p:nvCxnSpPr>
        <p:spPr>
          <a:xfrm>
            <a:off x="5765800" y="3530600"/>
            <a:ext cx="0" cy="3175000"/>
          </a:xfrm>
          <a:prstGeom prst="line">
            <a:avLst/>
          </a:prstGeom>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B0979655-CD1C-122B-046F-EC299C4258F1}"/>
              </a:ext>
            </a:extLst>
          </p:cNvPr>
          <p:cNvPicPr>
            <a:picLocks noChangeAspect="1"/>
          </p:cNvPicPr>
          <p:nvPr/>
        </p:nvPicPr>
        <p:blipFill>
          <a:blip r:embed="rId3">
            <a:extLst>
              <a:ext uri="{28A0092B-C50C-407E-A947-70E740481C1C}">
                <a14:useLocalDpi xmlns:a14="http://schemas.microsoft.com/office/drawing/2010/main" val="0"/>
              </a:ext>
            </a:extLst>
          </a:blip>
          <a:srcRect r="7826"/>
          <a:stretch>
            <a:fillRect/>
          </a:stretch>
        </p:blipFill>
        <p:spPr>
          <a:xfrm>
            <a:off x="6337300" y="4074544"/>
            <a:ext cx="5372092" cy="2162812"/>
          </a:xfrm>
          <a:prstGeom prst="rect">
            <a:avLst/>
          </a:prstGeom>
          <a:ln>
            <a:noFill/>
          </a:ln>
          <a:effectLst>
            <a:outerShdw blurRad="292100" dist="139700" dir="2700000" algn="tl" rotWithShape="0">
              <a:srgbClr val="333333">
                <a:alpha val="65000"/>
              </a:srgbClr>
            </a:outerShdw>
          </a:effectLst>
        </p:spPr>
      </p:pic>
      <p:graphicFrame>
        <p:nvGraphicFramePr>
          <p:cNvPr id="15" name="TextBox 4">
            <a:extLst>
              <a:ext uri="{FF2B5EF4-FFF2-40B4-BE49-F238E27FC236}">
                <a16:creationId xmlns:a16="http://schemas.microsoft.com/office/drawing/2014/main" id="{0EF1FE47-4CA2-F440-39B6-10C232CFD287}"/>
              </a:ext>
            </a:extLst>
          </p:cNvPr>
          <p:cNvGraphicFramePr/>
          <p:nvPr>
            <p:extLst>
              <p:ext uri="{D42A27DB-BD31-4B8C-83A1-F6EECF244321}">
                <p14:modId xmlns:p14="http://schemas.microsoft.com/office/powerpoint/2010/main" val="4166041826"/>
              </p:ext>
            </p:extLst>
          </p:nvPr>
        </p:nvGraphicFramePr>
        <p:xfrm>
          <a:off x="-304797" y="732813"/>
          <a:ext cx="12496797" cy="26903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4" name="TextBox 13">
            <a:extLst>
              <a:ext uri="{FF2B5EF4-FFF2-40B4-BE49-F238E27FC236}">
                <a16:creationId xmlns:a16="http://schemas.microsoft.com/office/drawing/2014/main" id="{2FCFC3DA-0BF1-83AC-060C-766662B667F6}"/>
              </a:ext>
            </a:extLst>
          </p:cNvPr>
          <p:cNvSpPr txBox="1"/>
          <p:nvPr/>
        </p:nvSpPr>
        <p:spPr>
          <a:xfrm flipH="1">
            <a:off x="6286500" y="3596879"/>
            <a:ext cx="4984169" cy="369332"/>
          </a:xfrm>
          <a:prstGeom prst="rect">
            <a:avLst/>
          </a:prstGeom>
          <a:noFill/>
        </p:spPr>
        <p:txBody>
          <a:bodyPr wrap="square" rtlCol="0">
            <a:spAutoFit/>
          </a:bodyPr>
          <a:lstStyle/>
          <a:p>
            <a:r>
              <a:rPr lang="en-US" dirty="0">
                <a:solidFill>
                  <a:schemeClr val="bg2">
                    <a:lumMod val="50000"/>
                  </a:schemeClr>
                </a:solidFill>
              </a:rPr>
              <a:t>Launch Site Names Begin with 'CCA' </a:t>
            </a:r>
            <a:endParaRPr lang="en-IN" dirty="0">
              <a:solidFill>
                <a:schemeClr val="bg2">
                  <a:lumMod val="50000"/>
                </a:schemeClr>
              </a:solidFill>
            </a:endParaRPr>
          </a:p>
        </p:txBody>
      </p:sp>
    </p:spTree>
    <p:extLst>
      <p:ext uri="{BB962C8B-B14F-4D97-AF65-F5344CB8AC3E}">
        <p14:creationId xmlns:p14="http://schemas.microsoft.com/office/powerpoint/2010/main" val="3381395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7495A2-AD5A-7E3A-780E-DC62E0DDFB95}"/>
              </a:ext>
            </a:extLst>
          </p:cNvPr>
          <p:cNvPicPr>
            <a:picLocks noChangeAspect="1"/>
          </p:cNvPicPr>
          <p:nvPr/>
        </p:nvPicPr>
        <p:blipFill>
          <a:blip r:embed="rId2">
            <a:extLst>
              <a:ext uri="{28A0092B-C50C-407E-A947-70E740481C1C}">
                <a14:useLocalDpi xmlns:a14="http://schemas.microsoft.com/office/drawing/2010/main" val="0"/>
              </a:ext>
            </a:extLst>
          </a:blip>
          <a:srcRect l="28720" t="35064" r="10727" b="46174"/>
          <a:stretch>
            <a:fillRect/>
          </a:stretch>
        </p:blipFill>
        <p:spPr>
          <a:xfrm>
            <a:off x="478271" y="536654"/>
            <a:ext cx="8431972" cy="1469571"/>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C4B1467D-DBFB-5072-99A1-8CABD1A1FC94}"/>
              </a:ext>
            </a:extLst>
          </p:cNvPr>
          <p:cNvPicPr>
            <a:picLocks noChangeAspect="1"/>
          </p:cNvPicPr>
          <p:nvPr/>
        </p:nvPicPr>
        <p:blipFill>
          <a:blip r:embed="rId2">
            <a:extLst>
              <a:ext uri="{28A0092B-C50C-407E-A947-70E740481C1C}">
                <a14:useLocalDpi xmlns:a14="http://schemas.microsoft.com/office/drawing/2010/main" val="0"/>
              </a:ext>
            </a:extLst>
          </a:blip>
          <a:srcRect l="27419" t="63457" r="10997" b="20121"/>
          <a:stretch>
            <a:fillRect/>
          </a:stretch>
        </p:blipFill>
        <p:spPr>
          <a:xfrm>
            <a:off x="511277" y="2663139"/>
            <a:ext cx="10595420" cy="1589315"/>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48219160-7447-4E4B-3AF1-58EF823262FC}"/>
              </a:ext>
            </a:extLst>
          </p:cNvPr>
          <p:cNvPicPr>
            <a:picLocks noChangeAspect="1"/>
          </p:cNvPicPr>
          <p:nvPr/>
        </p:nvPicPr>
        <p:blipFill>
          <a:blip r:embed="rId3">
            <a:extLst>
              <a:ext uri="{28A0092B-C50C-407E-A947-70E740481C1C}">
                <a14:useLocalDpi xmlns:a14="http://schemas.microsoft.com/office/drawing/2010/main" val="0"/>
              </a:ext>
            </a:extLst>
          </a:blip>
          <a:srcRect l="28664" t="26458" r="22181" b="55591"/>
          <a:stretch>
            <a:fillRect/>
          </a:stretch>
        </p:blipFill>
        <p:spPr>
          <a:xfrm>
            <a:off x="515426" y="4865822"/>
            <a:ext cx="7736602" cy="1589315"/>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63C98123-03C8-05C2-09A9-7BC980E22B65}"/>
              </a:ext>
            </a:extLst>
          </p:cNvPr>
          <p:cNvSpPr txBox="1"/>
          <p:nvPr/>
        </p:nvSpPr>
        <p:spPr>
          <a:xfrm>
            <a:off x="6681015" y="1271439"/>
            <a:ext cx="6135329" cy="369332"/>
          </a:xfrm>
          <a:prstGeom prst="rect">
            <a:avLst/>
          </a:prstGeom>
          <a:noFill/>
        </p:spPr>
        <p:txBody>
          <a:bodyPr wrap="square" rtlCol="0">
            <a:spAutoFit/>
          </a:bodyPr>
          <a:lstStyle/>
          <a:p>
            <a:r>
              <a:rPr lang="en-IN" dirty="0">
                <a:solidFill>
                  <a:schemeClr val="bg2">
                    <a:lumMod val="50000"/>
                  </a:schemeClr>
                </a:solidFill>
              </a:rPr>
              <a:t>Total Payload Mass </a:t>
            </a:r>
          </a:p>
        </p:txBody>
      </p:sp>
      <p:sp>
        <p:nvSpPr>
          <p:cNvPr id="9" name="TextBox 8">
            <a:extLst>
              <a:ext uri="{FF2B5EF4-FFF2-40B4-BE49-F238E27FC236}">
                <a16:creationId xmlns:a16="http://schemas.microsoft.com/office/drawing/2014/main" id="{9E782CB6-5205-8944-EAF1-58D7DD8EA360}"/>
              </a:ext>
            </a:extLst>
          </p:cNvPr>
          <p:cNvSpPr txBox="1"/>
          <p:nvPr/>
        </p:nvSpPr>
        <p:spPr>
          <a:xfrm>
            <a:off x="7482345" y="3457796"/>
            <a:ext cx="4532671" cy="369332"/>
          </a:xfrm>
          <a:prstGeom prst="rect">
            <a:avLst/>
          </a:prstGeom>
          <a:noFill/>
        </p:spPr>
        <p:txBody>
          <a:bodyPr wrap="square" rtlCol="0">
            <a:spAutoFit/>
          </a:bodyPr>
          <a:lstStyle/>
          <a:p>
            <a:r>
              <a:rPr lang="en-US" dirty="0">
                <a:solidFill>
                  <a:schemeClr val="bg2">
                    <a:lumMod val="50000"/>
                  </a:schemeClr>
                </a:solidFill>
              </a:rPr>
              <a:t>Average Payload Mass by F9 v1.1 </a:t>
            </a:r>
            <a:endParaRPr lang="en-IN" dirty="0">
              <a:solidFill>
                <a:schemeClr val="bg2">
                  <a:lumMod val="50000"/>
                </a:schemeClr>
              </a:solidFill>
            </a:endParaRPr>
          </a:p>
        </p:txBody>
      </p:sp>
      <p:sp>
        <p:nvSpPr>
          <p:cNvPr id="10" name="TextBox 9">
            <a:extLst>
              <a:ext uri="{FF2B5EF4-FFF2-40B4-BE49-F238E27FC236}">
                <a16:creationId xmlns:a16="http://schemas.microsoft.com/office/drawing/2014/main" id="{A696C72A-319C-B760-D82A-FD4FF4AA07D3}"/>
              </a:ext>
            </a:extLst>
          </p:cNvPr>
          <p:cNvSpPr txBox="1"/>
          <p:nvPr/>
        </p:nvSpPr>
        <p:spPr>
          <a:xfrm>
            <a:off x="4161262" y="5644153"/>
            <a:ext cx="4540287" cy="369332"/>
          </a:xfrm>
          <a:prstGeom prst="rect">
            <a:avLst/>
          </a:prstGeom>
          <a:noFill/>
        </p:spPr>
        <p:txBody>
          <a:bodyPr wrap="square" rtlCol="0">
            <a:spAutoFit/>
          </a:bodyPr>
          <a:lstStyle/>
          <a:p>
            <a:r>
              <a:rPr lang="en-US" dirty="0">
                <a:solidFill>
                  <a:schemeClr val="bg2">
                    <a:lumMod val="50000"/>
                  </a:schemeClr>
                </a:solidFill>
              </a:rPr>
              <a:t>First Successful Ground Landing Date </a:t>
            </a:r>
            <a:endParaRPr lang="en-IN" dirty="0">
              <a:solidFill>
                <a:schemeClr val="bg2">
                  <a:lumMod val="50000"/>
                </a:schemeClr>
              </a:solidFill>
            </a:endParaRPr>
          </a:p>
        </p:txBody>
      </p:sp>
    </p:spTree>
    <p:extLst>
      <p:ext uri="{BB962C8B-B14F-4D97-AF65-F5344CB8AC3E}">
        <p14:creationId xmlns:p14="http://schemas.microsoft.com/office/powerpoint/2010/main" val="543750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0C4A66-1631-45A4-29CC-0F2BF6FCFB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097" y="541658"/>
            <a:ext cx="11655255" cy="1618765"/>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33DE8699-8845-7B48-1936-E0FA79EBDE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264" y="2366641"/>
            <a:ext cx="11277600" cy="1245047"/>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42BF85E6-3834-BE60-E3C4-37D863689E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264" y="4126609"/>
            <a:ext cx="10093445" cy="2678640"/>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EB7FDFC5-2BB3-11FF-B5EB-BF049B8979B6}"/>
              </a:ext>
            </a:extLst>
          </p:cNvPr>
          <p:cNvSpPr txBox="1"/>
          <p:nvPr/>
        </p:nvSpPr>
        <p:spPr>
          <a:xfrm>
            <a:off x="6199237" y="5096597"/>
            <a:ext cx="4532671" cy="369332"/>
          </a:xfrm>
          <a:prstGeom prst="rect">
            <a:avLst/>
          </a:prstGeom>
          <a:noFill/>
        </p:spPr>
        <p:txBody>
          <a:bodyPr wrap="square" rtlCol="0">
            <a:spAutoFit/>
          </a:bodyPr>
          <a:lstStyle/>
          <a:p>
            <a:r>
              <a:rPr lang="en-IN" dirty="0">
                <a:solidFill>
                  <a:schemeClr val="bg2">
                    <a:lumMod val="50000"/>
                  </a:schemeClr>
                </a:solidFill>
              </a:rPr>
              <a:t>Boosters Carried Maximum Payload </a:t>
            </a:r>
          </a:p>
        </p:txBody>
      </p:sp>
      <p:sp>
        <p:nvSpPr>
          <p:cNvPr id="8" name="TextBox 7">
            <a:extLst>
              <a:ext uri="{FF2B5EF4-FFF2-40B4-BE49-F238E27FC236}">
                <a16:creationId xmlns:a16="http://schemas.microsoft.com/office/drawing/2014/main" id="{52537FF3-AC49-B102-54E7-527501DFB2E8}"/>
              </a:ext>
            </a:extLst>
          </p:cNvPr>
          <p:cNvSpPr txBox="1"/>
          <p:nvPr/>
        </p:nvSpPr>
        <p:spPr>
          <a:xfrm>
            <a:off x="5504187" y="2787289"/>
            <a:ext cx="6342165" cy="369332"/>
          </a:xfrm>
          <a:prstGeom prst="rect">
            <a:avLst/>
          </a:prstGeom>
          <a:noFill/>
        </p:spPr>
        <p:txBody>
          <a:bodyPr wrap="square" rtlCol="0">
            <a:spAutoFit/>
          </a:bodyPr>
          <a:lstStyle/>
          <a:p>
            <a:r>
              <a:rPr lang="en-US" dirty="0">
                <a:solidFill>
                  <a:schemeClr val="bg2">
                    <a:lumMod val="50000"/>
                  </a:schemeClr>
                </a:solidFill>
              </a:rPr>
              <a:t>Total Number of Successful and Failure Mission Outcomes </a:t>
            </a:r>
            <a:endParaRPr lang="en-IN" dirty="0">
              <a:solidFill>
                <a:schemeClr val="bg2">
                  <a:lumMod val="50000"/>
                </a:schemeClr>
              </a:solidFill>
            </a:endParaRPr>
          </a:p>
        </p:txBody>
      </p:sp>
      <p:sp>
        <p:nvSpPr>
          <p:cNvPr id="9" name="TextBox 8">
            <a:extLst>
              <a:ext uri="{FF2B5EF4-FFF2-40B4-BE49-F238E27FC236}">
                <a16:creationId xmlns:a16="http://schemas.microsoft.com/office/drawing/2014/main" id="{06D6A828-347C-3372-BA78-6123B66D76BA}"/>
              </a:ext>
            </a:extLst>
          </p:cNvPr>
          <p:cNvSpPr txBox="1"/>
          <p:nvPr/>
        </p:nvSpPr>
        <p:spPr>
          <a:xfrm>
            <a:off x="4850695" y="1166374"/>
            <a:ext cx="7910055" cy="369332"/>
          </a:xfrm>
          <a:prstGeom prst="rect">
            <a:avLst/>
          </a:prstGeom>
          <a:noFill/>
        </p:spPr>
        <p:txBody>
          <a:bodyPr wrap="square" rtlCol="0">
            <a:spAutoFit/>
          </a:bodyPr>
          <a:lstStyle/>
          <a:p>
            <a:r>
              <a:rPr lang="en-US" dirty="0">
                <a:solidFill>
                  <a:schemeClr val="bg2">
                    <a:lumMod val="50000"/>
                  </a:schemeClr>
                </a:solidFill>
              </a:rPr>
              <a:t>Successful Drone Ship Landing with Payload between 4000 and 6000 </a:t>
            </a:r>
            <a:endParaRPr lang="en-IN" dirty="0">
              <a:solidFill>
                <a:schemeClr val="bg2">
                  <a:lumMod val="50000"/>
                </a:schemeClr>
              </a:solidFill>
            </a:endParaRPr>
          </a:p>
        </p:txBody>
      </p:sp>
    </p:spTree>
    <p:extLst>
      <p:ext uri="{BB962C8B-B14F-4D97-AF65-F5344CB8AC3E}">
        <p14:creationId xmlns:p14="http://schemas.microsoft.com/office/powerpoint/2010/main" val="2005047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2D09F6-6BEE-21F0-79AD-6C62AAFEB6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4921" y="3359895"/>
            <a:ext cx="876838" cy="399352"/>
          </a:xfrm>
          <a:prstGeom prst="rect">
            <a:avLst/>
          </a:prstGeom>
        </p:spPr>
      </p:pic>
      <p:pic>
        <p:nvPicPr>
          <p:cNvPr id="10" name="Picture 9">
            <a:extLst>
              <a:ext uri="{FF2B5EF4-FFF2-40B4-BE49-F238E27FC236}">
                <a16:creationId xmlns:a16="http://schemas.microsoft.com/office/drawing/2014/main" id="{BC9BA317-19D2-0D71-A167-9C8216B4C68F}"/>
              </a:ext>
            </a:extLst>
          </p:cNvPr>
          <p:cNvPicPr>
            <a:picLocks noChangeAspect="1"/>
          </p:cNvPicPr>
          <p:nvPr/>
        </p:nvPicPr>
        <p:blipFill>
          <a:blip r:embed="rId3">
            <a:extLst>
              <a:ext uri="{28A0092B-C50C-407E-A947-70E740481C1C}">
                <a14:useLocalDpi xmlns:a14="http://schemas.microsoft.com/office/drawing/2010/main" val="0"/>
              </a:ext>
            </a:extLst>
          </a:blip>
          <a:srcRect l="1607" t="-123" r="35231" b="123"/>
          <a:stretch>
            <a:fillRect/>
          </a:stretch>
        </p:blipFill>
        <p:spPr>
          <a:xfrm>
            <a:off x="1" y="617024"/>
            <a:ext cx="3913238" cy="5498641"/>
          </a:xfrm>
          <a:prstGeom prst="rect">
            <a:avLst/>
          </a:prstGeom>
          <a:ln>
            <a:noFill/>
          </a:ln>
          <a:effectLst>
            <a:outerShdw blurRad="292100" dist="139700" dir="2700000" algn="tl" rotWithShape="0">
              <a:srgbClr val="333333">
                <a:alpha val="65000"/>
              </a:srgbClr>
            </a:outerShdw>
          </a:effectLst>
        </p:spPr>
      </p:pic>
      <p:sp>
        <p:nvSpPr>
          <p:cNvPr id="14" name="TextBox 13">
            <a:extLst>
              <a:ext uri="{FF2B5EF4-FFF2-40B4-BE49-F238E27FC236}">
                <a16:creationId xmlns:a16="http://schemas.microsoft.com/office/drawing/2014/main" id="{42763E84-3AD5-9FF7-D745-7BB18AC51BBE}"/>
              </a:ext>
            </a:extLst>
          </p:cNvPr>
          <p:cNvSpPr txBox="1"/>
          <p:nvPr/>
        </p:nvSpPr>
        <p:spPr>
          <a:xfrm>
            <a:off x="363795" y="274452"/>
            <a:ext cx="6096000" cy="369332"/>
          </a:xfrm>
          <a:prstGeom prst="rect">
            <a:avLst/>
          </a:prstGeom>
          <a:noFill/>
        </p:spPr>
        <p:txBody>
          <a:bodyPr wrap="square">
            <a:spAutoFit/>
          </a:bodyPr>
          <a:lstStyle/>
          <a:p>
            <a:r>
              <a:rPr lang="en-IN" dirty="0">
                <a:solidFill>
                  <a:schemeClr val="bg2">
                    <a:lumMod val="50000"/>
                  </a:schemeClr>
                </a:solidFill>
              </a:rPr>
              <a:t>2015 Launch Records </a:t>
            </a:r>
          </a:p>
        </p:txBody>
      </p:sp>
      <p:sp>
        <p:nvSpPr>
          <p:cNvPr id="16" name="TextBox 15">
            <a:extLst>
              <a:ext uri="{FF2B5EF4-FFF2-40B4-BE49-F238E27FC236}">
                <a16:creationId xmlns:a16="http://schemas.microsoft.com/office/drawing/2014/main" id="{5FA4EE51-C1F0-7877-BE30-157EED8DA78A}"/>
              </a:ext>
            </a:extLst>
          </p:cNvPr>
          <p:cNvSpPr txBox="1"/>
          <p:nvPr/>
        </p:nvSpPr>
        <p:spPr>
          <a:xfrm>
            <a:off x="4621162" y="294116"/>
            <a:ext cx="6312311" cy="369332"/>
          </a:xfrm>
          <a:prstGeom prst="rect">
            <a:avLst/>
          </a:prstGeom>
          <a:noFill/>
        </p:spPr>
        <p:txBody>
          <a:bodyPr wrap="square">
            <a:spAutoFit/>
          </a:bodyPr>
          <a:lstStyle/>
          <a:p>
            <a:r>
              <a:rPr lang="en-US" dirty="0">
                <a:solidFill>
                  <a:schemeClr val="bg2">
                    <a:lumMod val="50000"/>
                  </a:schemeClr>
                </a:solidFill>
              </a:rPr>
              <a:t>Rank Landing Outcomes Between 2010-06-04 and 2017-03-20 </a:t>
            </a:r>
            <a:endParaRPr lang="en-IN" dirty="0">
              <a:solidFill>
                <a:schemeClr val="bg2">
                  <a:lumMod val="50000"/>
                </a:schemeClr>
              </a:solidFill>
            </a:endParaRPr>
          </a:p>
        </p:txBody>
      </p:sp>
      <p:pic>
        <p:nvPicPr>
          <p:cNvPr id="20" name="Picture 19">
            <a:extLst>
              <a:ext uri="{FF2B5EF4-FFF2-40B4-BE49-F238E27FC236}">
                <a16:creationId xmlns:a16="http://schemas.microsoft.com/office/drawing/2014/main" id="{6453B692-AFAA-CA10-000E-3CFD3A176DE1}"/>
              </a:ext>
            </a:extLst>
          </p:cNvPr>
          <p:cNvPicPr>
            <a:picLocks noChangeAspect="1"/>
          </p:cNvPicPr>
          <p:nvPr/>
        </p:nvPicPr>
        <p:blipFill>
          <a:blip r:embed="rId4">
            <a:extLst>
              <a:ext uri="{28A0092B-C50C-407E-A947-70E740481C1C}">
                <a14:useLocalDpi xmlns:a14="http://schemas.microsoft.com/office/drawing/2010/main" val="0"/>
              </a:ext>
            </a:extLst>
          </a:blip>
          <a:srcRect r="4387" b="77649"/>
          <a:stretch>
            <a:fillRect/>
          </a:stretch>
        </p:blipFill>
        <p:spPr>
          <a:xfrm>
            <a:off x="4375688" y="702776"/>
            <a:ext cx="7806480" cy="506592"/>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797A3056-7F3C-0F4B-A569-231E2B835181}"/>
              </a:ext>
            </a:extLst>
          </p:cNvPr>
          <p:cNvPicPr>
            <a:picLocks noChangeAspect="1"/>
          </p:cNvPicPr>
          <p:nvPr/>
        </p:nvPicPr>
        <p:blipFill>
          <a:blip r:embed="rId4">
            <a:extLst>
              <a:ext uri="{28A0092B-C50C-407E-A947-70E740481C1C}">
                <a14:useLocalDpi xmlns:a14="http://schemas.microsoft.com/office/drawing/2010/main" val="0"/>
              </a:ext>
            </a:extLst>
          </a:blip>
          <a:srcRect t="21704" r="74605"/>
          <a:stretch>
            <a:fillRect/>
          </a:stretch>
        </p:blipFill>
        <p:spPr>
          <a:xfrm>
            <a:off x="4375688" y="1357077"/>
            <a:ext cx="2924358" cy="2502923"/>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4404EEEF-0948-3A62-7BD6-5BE01BA83502}"/>
              </a:ext>
            </a:extLst>
          </p:cNvPr>
          <p:cNvSpPr txBox="1"/>
          <p:nvPr/>
        </p:nvSpPr>
        <p:spPr>
          <a:xfrm>
            <a:off x="2156058" y="6563884"/>
            <a:ext cx="9933272" cy="276999"/>
          </a:xfrm>
          <a:prstGeom prst="rect">
            <a:avLst/>
          </a:prstGeom>
          <a:noFill/>
        </p:spPr>
        <p:txBody>
          <a:bodyPr wrap="square" rtlCol="0">
            <a:spAutoFit/>
          </a:bodyPr>
          <a:lstStyle/>
          <a:p>
            <a:r>
              <a:rPr lang="en-IN" sz="1200" dirty="0" err="1"/>
              <a:t>Github</a:t>
            </a:r>
            <a:r>
              <a:rPr lang="en-IN" sz="1200" dirty="0"/>
              <a:t> URL: </a:t>
            </a:r>
            <a:r>
              <a:rPr lang="en-IN" sz="1200" dirty="0">
                <a:hlinkClick r:id="rId5" action="ppaction://hlinksldjump"/>
              </a:rPr>
              <a:t>https://github.com/Gauribuild/IBM-Applied-Data-Science-Capstone/blob/main/jupyter-labs-eda-sql-coursera_sqllite.ipynb</a:t>
            </a:r>
            <a:endParaRPr lang="en-IN" sz="1200" dirty="0"/>
          </a:p>
        </p:txBody>
      </p:sp>
    </p:spTree>
    <p:extLst>
      <p:ext uri="{BB962C8B-B14F-4D97-AF65-F5344CB8AC3E}">
        <p14:creationId xmlns:p14="http://schemas.microsoft.com/office/powerpoint/2010/main" val="3751285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DDB78C-581B-7F1F-12F6-7C3760C2EC95}"/>
              </a:ext>
            </a:extLst>
          </p:cNvPr>
          <p:cNvSpPr txBox="1"/>
          <p:nvPr/>
        </p:nvSpPr>
        <p:spPr>
          <a:xfrm>
            <a:off x="330200" y="317500"/>
            <a:ext cx="7378700" cy="461665"/>
          </a:xfrm>
          <a:prstGeom prst="rect">
            <a:avLst/>
          </a:prstGeom>
          <a:noFill/>
        </p:spPr>
        <p:txBody>
          <a:bodyPr wrap="square" rtlCol="0">
            <a:spAutoFit/>
          </a:bodyPr>
          <a:lstStyle/>
          <a:p>
            <a:r>
              <a:rPr lang="en-IN" sz="2400" b="1" dirty="0">
                <a:solidFill>
                  <a:schemeClr val="tx2">
                    <a:lumMod val="75000"/>
                    <a:lumOff val="25000"/>
                  </a:schemeClr>
                </a:solidFill>
              </a:rPr>
              <a:t>EDA WITH DATA VISUALIZATION:</a:t>
            </a:r>
          </a:p>
        </p:txBody>
      </p:sp>
      <p:cxnSp>
        <p:nvCxnSpPr>
          <p:cNvPr id="4" name="Straight Connector 3">
            <a:extLst>
              <a:ext uri="{FF2B5EF4-FFF2-40B4-BE49-F238E27FC236}">
                <a16:creationId xmlns:a16="http://schemas.microsoft.com/office/drawing/2014/main" id="{FA9EFF5D-28E6-F668-CA7C-0682868C5DF1}"/>
              </a:ext>
            </a:extLst>
          </p:cNvPr>
          <p:cNvCxnSpPr>
            <a:cxnSpLocks/>
          </p:cNvCxnSpPr>
          <p:nvPr/>
        </p:nvCxnSpPr>
        <p:spPr>
          <a:xfrm flipV="1">
            <a:off x="425450" y="685800"/>
            <a:ext cx="11372850" cy="93365"/>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A3F01758-F7C2-4503-9E90-18A31AB6B717}"/>
              </a:ext>
            </a:extLst>
          </p:cNvPr>
          <p:cNvSpPr txBox="1"/>
          <p:nvPr/>
        </p:nvSpPr>
        <p:spPr>
          <a:xfrm>
            <a:off x="330200" y="790723"/>
            <a:ext cx="12024852" cy="1754326"/>
          </a:xfrm>
          <a:prstGeom prst="rect">
            <a:avLst/>
          </a:prstGeom>
          <a:noFill/>
        </p:spPr>
        <p:txBody>
          <a:bodyPr wrap="square">
            <a:spAutoFit/>
          </a:bodyPr>
          <a:lstStyle/>
          <a:p>
            <a:pPr marL="285750" indent="-285750">
              <a:buFont typeface="Arial" panose="020B0604020202020204" pitchFamily="34" charset="0"/>
              <a:buChar char="•"/>
            </a:pPr>
            <a:r>
              <a:rPr lang="en-US" dirty="0"/>
              <a:t>.Plotted bar graph to compare categorical variables such as launch outcomes (success/failure) across different categories like launch sites or rocket types.</a:t>
            </a:r>
          </a:p>
          <a:p>
            <a:pPr marL="285750" indent="-285750">
              <a:buFont typeface="Arial" panose="020B0604020202020204" pitchFamily="34" charset="0"/>
              <a:buChar char="•"/>
            </a:pPr>
            <a:r>
              <a:rPr lang="en-US" dirty="0"/>
              <a:t>Plotted line graph to track trends over time, such as the success rate of Falcon 9 launches across different years.</a:t>
            </a:r>
          </a:p>
          <a:p>
            <a:pPr marL="285750" indent="-285750">
              <a:buFont typeface="Arial" panose="020B0604020202020204" pitchFamily="34" charset="0"/>
              <a:buChar char="•"/>
            </a:pPr>
            <a:r>
              <a:rPr lang="en-US" dirty="0"/>
              <a:t>Plotted scatter plots to explore relationships between two numerical variables (payload mass vs. launch success).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IN" dirty="0"/>
          </a:p>
        </p:txBody>
      </p:sp>
      <p:pic>
        <p:nvPicPr>
          <p:cNvPr id="8" name="Picture 7">
            <a:extLst>
              <a:ext uri="{FF2B5EF4-FFF2-40B4-BE49-F238E27FC236}">
                <a16:creationId xmlns:a16="http://schemas.microsoft.com/office/drawing/2014/main" id="{1CFFD788-69CC-6178-AD7A-DAE36F71FB15}"/>
              </a:ext>
            </a:extLst>
          </p:cNvPr>
          <p:cNvPicPr>
            <a:picLocks noChangeAspect="1"/>
          </p:cNvPicPr>
          <p:nvPr/>
        </p:nvPicPr>
        <p:blipFill>
          <a:blip r:embed="rId2"/>
          <a:srcRect t="14952"/>
          <a:stretch>
            <a:fillRect/>
          </a:stretch>
        </p:blipFill>
        <p:spPr>
          <a:xfrm>
            <a:off x="408038" y="2940293"/>
            <a:ext cx="11253019" cy="2462981"/>
          </a:xfrm>
          <a:prstGeom prst="rect">
            <a:avLst/>
          </a:prstGeom>
        </p:spPr>
      </p:pic>
      <p:sp>
        <p:nvSpPr>
          <p:cNvPr id="9" name="TextBox 8">
            <a:extLst>
              <a:ext uri="{FF2B5EF4-FFF2-40B4-BE49-F238E27FC236}">
                <a16:creationId xmlns:a16="http://schemas.microsoft.com/office/drawing/2014/main" id="{130DA738-8A91-D7AF-F5A8-6887DD388C5E}"/>
              </a:ext>
            </a:extLst>
          </p:cNvPr>
          <p:cNvSpPr txBox="1"/>
          <p:nvPr/>
        </p:nvSpPr>
        <p:spPr>
          <a:xfrm>
            <a:off x="330200" y="1963617"/>
            <a:ext cx="8121035" cy="461665"/>
          </a:xfrm>
          <a:prstGeom prst="rect">
            <a:avLst/>
          </a:prstGeom>
          <a:noFill/>
        </p:spPr>
        <p:txBody>
          <a:bodyPr wrap="square" rtlCol="0">
            <a:spAutoFit/>
          </a:bodyPr>
          <a:lstStyle/>
          <a:p>
            <a:r>
              <a:rPr lang="en-IN" sz="2400" b="1" dirty="0">
                <a:solidFill>
                  <a:schemeClr val="tx2">
                    <a:lumMod val="75000"/>
                    <a:lumOff val="25000"/>
                  </a:schemeClr>
                </a:solidFill>
              </a:rPr>
              <a:t>INSIGHTS FROM EDA WITH DATA VISUALIZATION:</a:t>
            </a:r>
          </a:p>
        </p:txBody>
      </p:sp>
      <p:cxnSp>
        <p:nvCxnSpPr>
          <p:cNvPr id="10" name="Straight Connector 9">
            <a:extLst>
              <a:ext uri="{FF2B5EF4-FFF2-40B4-BE49-F238E27FC236}">
                <a16:creationId xmlns:a16="http://schemas.microsoft.com/office/drawing/2014/main" id="{FDF22527-6B33-A91B-F5FD-F8B73CDDB3F1}"/>
              </a:ext>
            </a:extLst>
          </p:cNvPr>
          <p:cNvCxnSpPr>
            <a:cxnSpLocks/>
          </p:cNvCxnSpPr>
          <p:nvPr/>
        </p:nvCxnSpPr>
        <p:spPr>
          <a:xfrm flipV="1">
            <a:off x="410703" y="2332709"/>
            <a:ext cx="11372850" cy="93365"/>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05BC350-F947-D79D-D416-DC9BC15D14AA}"/>
              </a:ext>
            </a:extLst>
          </p:cNvPr>
          <p:cNvSpPr txBox="1"/>
          <p:nvPr/>
        </p:nvSpPr>
        <p:spPr>
          <a:xfrm>
            <a:off x="3974691" y="2419871"/>
            <a:ext cx="5029200" cy="369332"/>
          </a:xfrm>
          <a:prstGeom prst="rect">
            <a:avLst/>
          </a:prstGeom>
          <a:noFill/>
        </p:spPr>
        <p:txBody>
          <a:bodyPr wrap="square" rtlCol="0">
            <a:spAutoFit/>
          </a:bodyPr>
          <a:lstStyle/>
          <a:p>
            <a:r>
              <a:rPr lang="en-IN" dirty="0">
                <a:solidFill>
                  <a:schemeClr val="bg2">
                    <a:lumMod val="50000"/>
                  </a:schemeClr>
                </a:solidFill>
              </a:rPr>
              <a:t>Flight Number vs Launch Site</a:t>
            </a:r>
          </a:p>
        </p:txBody>
      </p:sp>
      <p:sp>
        <p:nvSpPr>
          <p:cNvPr id="14" name="TextBox 13">
            <a:extLst>
              <a:ext uri="{FF2B5EF4-FFF2-40B4-BE49-F238E27FC236}">
                <a16:creationId xmlns:a16="http://schemas.microsoft.com/office/drawing/2014/main" id="{1B270B7E-2E7D-793C-A6FA-898D4AB51287}"/>
              </a:ext>
            </a:extLst>
          </p:cNvPr>
          <p:cNvSpPr txBox="1"/>
          <p:nvPr/>
        </p:nvSpPr>
        <p:spPr>
          <a:xfrm>
            <a:off x="983226" y="5710535"/>
            <a:ext cx="9183328" cy="923330"/>
          </a:xfrm>
          <a:prstGeom prst="rect">
            <a:avLst/>
          </a:prstGeom>
          <a:noFill/>
        </p:spPr>
        <p:txBody>
          <a:bodyPr wrap="square">
            <a:spAutoFit/>
          </a:bodyPr>
          <a:lstStyle/>
          <a:p>
            <a:pPr marL="285750" indent="-285750">
              <a:buFont typeface="Arial" panose="020B0604020202020204" pitchFamily="34" charset="0"/>
              <a:buChar char="•"/>
            </a:pPr>
            <a:r>
              <a:rPr lang="en-IN" dirty="0">
                <a:solidFill>
                  <a:schemeClr val="bg2">
                    <a:lumMod val="50000"/>
                  </a:schemeClr>
                </a:solidFill>
              </a:rPr>
              <a:t>The CCAFS SLC 40 launch site has about a half of all launches.</a:t>
            </a:r>
          </a:p>
          <a:p>
            <a:pPr marL="285750" indent="-285750">
              <a:buFont typeface="Arial" panose="020B0604020202020204" pitchFamily="34" charset="0"/>
              <a:buChar char="•"/>
            </a:pPr>
            <a:r>
              <a:rPr lang="en-IN" dirty="0">
                <a:solidFill>
                  <a:schemeClr val="bg2">
                    <a:lumMod val="50000"/>
                  </a:schemeClr>
                </a:solidFill>
              </a:rPr>
              <a:t>VAFB SLC 4E and KSC LC 39A have higher success rates.</a:t>
            </a:r>
          </a:p>
          <a:p>
            <a:pPr marL="285750" indent="-285750">
              <a:buFont typeface="Arial" panose="020B0604020202020204" pitchFamily="34" charset="0"/>
              <a:buChar char="•"/>
            </a:pPr>
            <a:r>
              <a:rPr lang="en-IN" dirty="0">
                <a:solidFill>
                  <a:schemeClr val="bg2">
                    <a:lumMod val="50000"/>
                  </a:schemeClr>
                </a:solidFill>
              </a:rPr>
              <a:t>With every new launch, the rate of success increases.</a:t>
            </a:r>
          </a:p>
        </p:txBody>
      </p:sp>
    </p:spTree>
    <p:extLst>
      <p:ext uri="{BB962C8B-B14F-4D97-AF65-F5344CB8AC3E}">
        <p14:creationId xmlns:p14="http://schemas.microsoft.com/office/powerpoint/2010/main" val="3102193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E64431-3856-6670-8FFD-15FD8C4FFE32}"/>
              </a:ext>
            </a:extLst>
          </p:cNvPr>
          <p:cNvPicPr>
            <a:picLocks noChangeAspect="1"/>
          </p:cNvPicPr>
          <p:nvPr/>
        </p:nvPicPr>
        <p:blipFill>
          <a:blip r:embed="rId2"/>
          <a:srcRect t="14620"/>
          <a:stretch>
            <a:fillRect/>
          </a:stretch>
        </p:blipFill>
        <p:spPr>
          <a:xfrm>
            <a:off x="270248" y="1393372"/>
            <a:ext cx="11761348" cy="3548742"/>
          </a:xfrm>
          <a:prstGeom prst="rect">
            <a:avLst/>
          </a:prstGeom>
        </p:spPr>
      </p:pic>
      <p:sp>
        <p:nvSpPr>
          <p:cNvPr id="4" name="TextBox 3">
            <a:extLst>
              <a:ext uri="{FF2B5EF4-FFF2-40B4-BE49-F238E27FC236}">
                <a16:creationId xmlns:a16="http://schemas.microsoft.com/office/drawing/2014/main" id="{E1B578EC-4AC3-E91B-C0C0-4732556AB2E0}"/>
              </a:ext>
            </a:extLst>
          </p:cNvPr>
          <p:cNvSpPr txBox="1"/>
          <p:nvPr/>
        </p:nvSpPr>
        <p:spPr>
          <a:xfrm>
            <a:off x="4862896" y="416156"/>
            <a:ext cx="2576052" cy="369332"/>
          </a:xfrm>
          <a:prstGeom prst="rect">
            <a:avLst/>
          </a:prstGeom>
          <a:noFill/>
        </p:spPr>
        <p:txBody>
          <a:bodyPr wrap="square">
            <a:spAutoFit/>
          </a:bodyPr>
          <a:lstStyle/>
          <a:p>
            <a:r>
              <a:rPr lang="en-IN" dirty="0">
                <a:solidFill>
                  <a:schemeClr val="bg2">
                    <a:lumMod val="50000"/>
                  </a:schemeClr>
                </a:solidFill>
              </a:rPr>
              <a:t>Payload vs. Launch Site</a:t>
            </a:r>
          </a:p>
        </p:txBody>
      </p:sp>
      <p:sp>
        <p:nvSpPr>
          <p:cNvPr id="6" name="TextBox 5">
            <a:extLst>
              <a:ext uri="{FF2B5EF4-FFF2-40B4-BE49-F238E27FC236}">
                <a16:creationId xmlns:a16="http://schemas.microsoft.com/office/drawing/2014/main" id="{A2DA2497-049B-1B0B-2A23-7AA9BB90554B}"/>
              </a:ext>
            </a:extLst>
          </p:cNvPr>
          <p:cNvSpPr txBox="1"/>
          <p:nvPr/>
        </p:nvSpPr>
        <p:spPr>
          <a:xfrm>
            <a:off x="1137733" y="5333848"/>
            <a:ext cx="8662219" cy="923330"/>
          </a:xfrm>
          <a:prstGeom prst="rect">
            <a:avLst/>
          </a:prstGeom>
          <a:noFill/>
        </p:spPr>
        <p:txBody>
          <a:bodyPr wrap="square">
            <a:spAutoFit/>
          </a:bodyPr>
          <a:lstStyle/>
          <a:p>
            <a:pPr marL="285750" indent="-285750">
              <a:buFont typeface="Arial" panose="020B0604020202020204" pitchFamily="34" charset="0"/>
              <a:buChar char="•"/>
            </a:pPr>
            <a:r>
              <a:rPr lang="en-IN" dirty="0">
                <a:solidFill>
                  <a:schemeClr val="bg2">
                    <a:lumMod val="50000"/>
                  </a:schemeClr>
                </a:solidFill>
              </a:rPr>
              <a:t>For every launch site the higher the payload mass, the higher the success rate.</a:t>
            </a:r>
          </a:p>
          <a:p>
            <a:pPr marL="285750" indent="-285750">
              <a:buFont typeface="Arial" panose="020B0604020202020204" pitchFamily="34" charset="0"/>
              <a:buChar char="•"/>
            </a:pPr>
            <a:r>
              <a:rPr lang="en-IN" dirty="0">
                <a:solidFill>
                  <a:schemeClr val="bg2">
                    <a:lumMod val="50000"/>
                  </a:schemeClr>
                </a:solidFill>
              </a:rPr>
              <a:t>Most of the launches with payload mass over 7000 kg were successful.</a:t>
            </a:r>
          </a:p>
          <a:p>
            <a:pPr marL="285750" indent="-285750">
              <a:buFont typeface="Arial" panose="020B0604020202020204" pitchFamily="34" charset="0"/>
              <a:buChar char="•"/>
            </a:pPr>
            <a:r>
              <a:rPr lang="en-IN" dirty="0">
                <a:solidFill>
                  <a:schemeClr val="bg2">
                    <a:lumMod val="50000"/>
                  </a:schemeClr>
                </a:solidFill>
              </a:rPr>
              <a:t>KSC LC 39A has a 100% success rate for payload mass under 5500 kg too.</a:t>
            </a:r>
          </a:p>
        </p:txBody>
      </p:sp>
    </p:spTree>
    <p:extLst>
      <p:ext uri="{BB962C8B-B14F-4D97-AF65-F5344CB8AC3E}">
        <p14:creationId xmlns:p14="http://schemas.microsoft.com/office/powerpoint/2010/main" val="2280832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2BFE37-B89B-AC38-7F19-B4D204D97805}"/>
              </a:ext>
            </a:extLst>
          </p:cNvPr>
          <p:cNvPicPr>
            <a:picLocks noChangeAspect="1"/>
          </p:cNvPicPr>
          <p:nvPr/>
        </p:nvPicPr>
        <p:blipFill>
          <a:blip r:embed="rId2"/>
          <a:srcRect t="7115"/>
          <a:stretch>
            <a:fillRect/>
          </a:stretch>
        </p:blipFill>
        <p:spPr>
          <a:xfrm>
            <a:off x="747252" y="1111044"/>
            <a:ext cx="10392697" cy="4149213"/>
          </a:xfrm>
          <a:prstGeom prst="rect">
            <a:avLst/>
          </a:prstGeom>
        </p:spPr>
      </p:pic>
      <p:sp>
        <p:nvSpPr>
          <p:cNvPr id="4" name="TextBox 3">
            <a:extLst>
              <a:ext uri="{FF2B5EF4-FFF2-40B4-BE49-F238E27FC236}">
                <a16:creationId xmlns:a16="http://schemas.microsoft.com/office/drawing/2014/main" id="{D2D05D22-8B1A-13BB-375F-F570A1E95986}"/>
              </a:ext>
            </a:extLst>
          </p:cNvPr>
          <p:cNvSpPr txBox="1"/>
          <p:nvPr/>
        </p:nvSpPr>
        <p:spPr>
          <a:xfrm>
            <a:off x="1347018" y="5603141"/>
            <a:ext cx="8327924" cy="923330"/>
          </a:xfrm>
          <a:prstGeom prst="rect">
            <a:avLst/>
          </a:prstGeom>
          <a:noFill/>
        </p:spPr>
        <p:txBody>
          <a:bodyPr wrap="square">
            <a:spAutoFit/>
          </a:bodyPr>
          <a:lstStyle/>
          <a:p>
            <a:pPr marL="285750" indent="-285750">
              <a:buFont typeface="Arial" panose="020B0604020202020204" pitchFamily="34" charset="0"/>
              <a:buChar char="•"/>
            </a:pPr>
            <a:r>
              <a:rPr lang="en-IN" dirty="0">
                <a:solidFill>
                  <a:schemeClr val="bg2">
                    <a:lumMod val="50000"/>
                  </a:schemeClr>
                </a:solidFill>
              </a:rPr>
              <a:t>Orbits with 100% success rate: ES-L1, GEO, HEO, SSO</a:t>
            </a:r>
          </a:p>
          <a:p>
            <a:pPr marL="285750" indent="-285750">
              <a:buFont typeface="Arial" panose="020B0604020202020204" pitchFamily="34" charset="0"/>
              <a:buChar char="•"/>
            </a:pPr>
            <a:r>
              <a:rPr lang="en-IN" dirty="0">
                <a:solidFill>
                  <a:schemeClr val="bg2">
                    <a:lumMod val="50000"/>
                  </a:schemeClr>
                </a:solidFill>
              </a:rPr>
              <a:t>Orbits with 0% success rate: SO</a:t>
            </a:r>
          </a:p>
          <a:p>
            <a:pPr marL="285750" indent="-285750">
              <a:buFont typeface="Arial" panose="020B0604020202020204" pitchFamily="34" charset="0"/>
              <a:buChar char="•"/>
            </a:pPr>
            <a:r>
              <a:rPr lang="en-IN" dirty="0">
                <a:solidFill>
                  <a:schemeClr val="bg2">
                    <a:lumMod val="50000"/>
                  </a:schemeClr>
                </a:solidFill>
              </a:rPr>
              <a:t>Orbits with success rate between 50% and 85%: GTO, ISS, LEO, MEO, PO</a:t>
            </a:r>
          </a:p>
        </p:txBody>
      </p:sp>
      <p:sp>
        <p:nvSpPr>
          <p:cNvPr id="6" name="TextBox 5">
            <a:extLst>
              <a:ext uri="{FF2B5EF4-FFF2-40B4-BE49-F238E27FC236}">
                <a16:creationId xmlns:a16="http://schemas.microsoft.com/office/drawing/2014/main" id="{DF735432-AC75-BE62-F13D-4037DBBD7358}"/>
              </a:ext>
            </a:extLst>
          </p:cNvPr>
          <p:cNvSpPr txBox="1"/>
          <p:nvPr/>
        </p:nvSpPr>
        <p:spPr>
          <a:xfrm>
            <a:off x="4758814" y="331529"/>
            <a:ext cx="3687097" cy="369332"/>
          </a:xfrm>
          <a:prstGeom prst="rect">
            <a:avLst/>
          </a:prstGeom>
          <a:noFill/>
        </p:spPr>
        <p:txBody>
          <a:bodyPr wrap="square">
            <a:spAutoFit/>
          </a:bodyPr>
          <a:lstStyle/>
          <a:p>
            <a:r>
              <a:rPr lang="en-US" dirty="0">
                <a:solidFill>
                  <a:schemeClr val="bg2">
                    <a:lumMod val="50000"/>
                  </a:schemeClr>
                </a:solidFill>
              </a:rPr>
              <a:t>Success Rate vs. Orbit Type</a:t>
            </a:r>
            <a:endParaRPr lang="en-IN" dirty="0">
              <a:solidFill>
                <a:schemeClr val="bg2">
                  <a:lumMod val="50000"/>
                </a:schemeClr>
              </a:solidFill>
            </a:endParaRPr>
          </a:p>
        </p:txBody>
      </p:sp>
    </p:spTree>
    <p:extLst>
      <p:ext uri="{BB962C8B-B14F-4D97-AF65-F5344CB8AC3E}">
        <p14:creationId xmlns:p14="http://schemas.microsoft.com/office/powerpoint/2010/main" val="2261322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E2F338-D3FE-0B2D-48C9-A6177F3DD5DB}"/>
              </a:ext>
            </a:extLst>
          </p:cNvPr>
          <p:cNvPicPr>
            <a:picLocks noChangeAspect="1"/>
          </p:cNvPicPr>
          <p:nvPr/>
        </p:nvPicPr>
        <p:blipFill>
          <a:blip r:embed="rId2">
            <a:extLst>
              <a:ext uri="{28A0092B-C50C-407E-A947-70E740481C1C}">
                <a14:useLocalDpi xmlns:a14="http://schemas.microsoft.com/office/drawing/2010/main" val="0"/>
              </a:ext>
            </a:extLst>
          </a:blip>
          <a:srcRect b="16363"/>
          <a:stretch>
            <a:fillRect/>
          </a:stretch>
        </p:blipFill>
        <p:spPr>
          <a:xfrm>
            <a:off x="698092" y="662016"/>
            <a:ext cx="9397828" cy="4480255"/>
          </a:xfrm>
          <a:prstGeom prst="rect">
            <a:avLst/>
          </a:prstGeom>
        </p:spPr>
      </p:pic>
      <p:sp>
        <p:nvSpPr>
          <p:cNvPr id="4" name="TextBox 3">
            <a:extLst>
              <a:ext uri="{FF2B5EF4-FFF2-40B4-BE49-F238E27FC236}">
                <a16:creationId xmlns:a16="http://schemas.microsoft.com/office/drawing/2014/main" id="{23058C2F-3296-8A4B-5941-7C4F681C5E54}"/>
              </a:ext>
            </a:extLst>
          </p:cNvPr>
          <p:cNvSpPr txBox="1"/>
          <p:nvPr/>
        </p:nvSpPr>
        <p:spPr>
          <a:xfrm>
            <a:off x="4063732" y="214026"/>
            <a:ext cx="6096000" cy="369332"/>
          </a:xfrm>
          <a:prstGeom prst="rect">
            <a:avLst/>
          </a:prstGeom>
          <a:noFill/>
        </p:spPr>
        <p:txBody>
          <a:bodyPr wrap="square">
            <a:spAutoFit/>
          </a:bodyPr>
          <a:lstStyle/>
          <a:p>
            <a:r>
              <a:rPr lang="en-US" dirty="0">
                <a:solidFill>
                  <a:schemeClr val="bg2">
                    <a:lumMod val="50000"/>
                  </a:schemeClr>
                </a:solidFill>
              </a:rPr>
              <a:t>Flight Number vs. Orbit Type</a:t>
            </a:r>
            <a:endParaRPr lang="en-IN" dirty="0">
              <a:solidFill>
                <a:schemeClr val="bg2">
                  <a:lumMod val="50000"/>
                </a:schemeClr>
              </a:solidFill>
            </a:endParaRPr>
          </a:p>
        </p:txBody>
      </p:sp>
      <p:sp>
        <p:nvSpPr>
          <p:cNvPr id="3" name="Rectangle 1">
            <a:extLst>
              <a:ext uri="{FF2B5EF4-FFF2-40B4-BE49-F238E27FC236}">
                <a16:creationId xmlns:a16="http://schemas.microsoft.com/office/drawing/2014/main" id="{8B6DED16-962C-1ED9-868E-E775763C80A4}"/>
              </a:ext>
            </a:extLst>
          </p:cNvPr>
          <p:cNvSpPr>
            <a:spLocks noChangeArrowheads="1"/>
          </p:cNvSpPr>
          <p:nvPr/>
        </p:nvSpPr>
        <p:spPr bwMode="auto">
          <a:xfrm>
            <a:off x="1802318" y="5479110"/>
            <a:ext cx="892467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2">
                    <a:lumMod val="50000"/>
                  </a:schemeClr>
                </a:solidFill>
                <a:effectLst/>
                <a:latin typeface="Arial" panose="020B0604020202020204" pitchFamily="34" charset="0"/>
              </a:rPr>
              <a:t>Success rate of Falcon 9 launches increases with higher flight numbers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2">
                    <a:lumMod val="50000"/>
                  </a:schemeClr>
                </a:solidFill>
                <a:effectLst/>
                <a:latin typeface="Arial" panose="020B0604020202020204" pitchFamily="34" charset="0"/>
              </a:rPr>
              <a:t>Early missions to GTO and ISS orbits showed mixed outcomes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2">
                    <a:lumMod val="50000"/>
                  </a:schemeClr>
                </a:solidFill>
                <a:effectLst/>
                <a:latin typeface="Arial" panose="020B0604020202020204" pitchFamily="34" charset="0"/>
              </a:rPr>
              <a:t>Recent missions to these orbits have significantly higher success rates.</a:t>
            </a:r>
          </a:p>
        </p:txBody>
      </p:sp>
    </p:spTree>
    <p:extLst>
      <p:ext uri="{BB962C8B-B14F-4D97-AF65-F5344CB8AC3E}">
        <p14:creationId xmlns:p14="http://schemas.microsoft.com/office/powerpoint/2010/main" val="954272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A4FFAC-7F84-600A-7DDF-A6C3B0528A03}"/>
              </a:ext>
            </a:extLst>
          </p:cNvPr>
          <p:cNvPicPr>
            <a:picLocks noChangeAspect="1"/>
          </p:cNvPicPr>
          <p:nvPr/>
        </p:nvPicPr>
        <p:blipFill>
          <a:blip r:embed="rId2">
            <a:extLst>
              <a:ext uri="{28A0092B-C50C-407E-A947-70E740481C1C}">
                <a14:useLocalDpi xmlns:a14="http://schemas.microsoft.com/office/drawing/2010/main" val="0"/>
              </a:ext>
            </a:extLst>
          </a:blip>
          <a:srcRect r="2" b="10014"/>
          <a:stretch>
            <a:fillRect/>
          </a:stretch>
        </p:blipFill>
        <p:spPr>
          <a:xfrm>
            <a:off x="1697182" y="837851"/>
            <a:ext cx="7371225" cy="3979955"/>
          </a:xfrm>
          <a:prstGeom prst="rect">
            <a:avLst/>
          </a:prstGeom>
        </p:spPr>
      </p:pic>
      <p:sp>
        <p:nvSpPr>
          <p:cNvPr id="3" name="Rectangle 1">
            <a:extLst>
              <a:ext uri="{FF2B5EF4-FFF2-40B4-BE49-F238E27FC236}">
                <a16:creationId xmlns:a16="http://schemas.microsoft.com/office/drawing/2014/main" id="{18459E39-BBCF-20A8-CEF3-5BF87C6917A1}"/>
              </a:ext>
            </a:extLst>
          </p:cNvPr>
          <p:cNvSpPr>
            <a:spLocks noChangeArrowheads="1"/>
          </p:cNvSpPr>
          <p:nvPr/>
        </p:nvSpPr>
        <p:spPr bwMode="auto">
          <a:xfrm>
            <a:off x="2251586" y="5033852"/>
            <a:ext cx="855406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2">
                    <a:lumMod val="50000"/>
                  </a:schemeClr>
                </a:solidFill>
                <a:effectLst/>
                <a:latin typeface="Arial" panose="020B0604020202020204" pitchFamily="34" charset="0"/>
              </a:rPr>
              <a:t>Successful landings are more frequent across most orbit types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2">
                    <a:lumMod val="50000"/>
                  </a:schemeClr>
                </a:solidFill>
                <a:effectLst/>
                <a:latin typeface="Arial" panose="020B0604020202020204" pitchFamily="34" charset="0"/>
              </a:rPr>
              <a:t>Higher success observed for payloads below 6000 kg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2">
                    <a:lumMod val="50000"/>
                  </a:schemeClr>
                </a:solidFill>
                <a:effectLst/>
                <a:latin typeface="Arial" panose="020B0604020202020204" pitchFamily="34" charset="0"/>
              </a:rPr>
              <a:t>Payloads above 10,000 kg show mixed outcomes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bg2">
                    <a:lumMod val="50000"/>
                  </a:schemeClr>
                </a:solidFill>
                <a:effectLst/>
                <a:latin typeface="Arial" panose="020B0604020202020204" pitchFamily="34" charset="0"/>
              </a:rPr>
              <a:t>Heavier payloads are associated with increased mission difficulty </a:t>
            </a:r>
          </a:p>
        </p:txBody>
      </p:sp>
      <p:sp>
        <p:nvSpPr>
          <p:cNvPr id="5" name="TextBox 4">
            <a:extLst>
              <a:ext uri="{FF2B5EF4-FFF2-40B4-BE49-F238E27FC236}">
                <a16:creationId xmlns:a16="http://schemas.microsoft.com/office/drawing/2014/main" id="{DF2DC3D0-A9C6-43AE-0989-B88FE0C3DDF7}"/>
              </a:ext>
            </a:extLst>
          </p:cNvPr>
          <p:cNvSpPr txBox="1"/>
          <p:nvPr/>
        </p:nvSpPr>
        <p:spPr>
          <a:xfrm>
            <a:off x="4473678" y="252473"/>
            <a:ext cx="6096000" cy="369332"/>
          </a:xfrm>
          <a:prstGeom prst="rect">
            <a:avLst/>
          </a:prstGeom>
          <a:noFill/>
        </p:spPr>
        <p:txBody>
          <a:bodyPr wrap="square">
            <a:spAutoFit/>
          </a:bodyPr>
          <a:lstStyle/>
          <a:p>
            <a:r>
              <a:rPr lang="en-IN" dirty="0">
                <a:solidFill>
                  <a:schemeClr val="bg2">
                    <a:lumMod val="50000"/>
                  </a:schemeClr>
                </a:solidFill>
              </a:rPr>
              <a:t>Payload vs. Orbit Type</a:t>
            </a:r>
          </a:p>
        </p:txBody>
      </p:sp>
    </p:spTree>
    <p:extLst>
      <p:ext uri="{BB962C8B-B14F-4D97-AF65-F5344CB8AC3E}">
        <p14:creationId xmlns:p14="http://schemas.microsoft.com/office/powerpoint/2010/main" val="2292867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99E4D29-5F08-447A-A2A3-AB222BB49F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2DC9A5F-6F29-16F1-2D57-D1BB2011AC41}"/>
              </a:ext>
            </a:extLst>
          </p:cNvPr>
          <p:cNvPicPr>
            <a:picLocks noChangeAspect="1"/>
          </p:cNvPicPr>
          <p:nvPr/>
        </p:nvPicPr>
        <p:blipFill>
          <a:blip r:embed="rId2">
            <a:extLst>
              <a:ext uri="{28A0092B-C50C-407E-A947-70E740481C1C}">
                <a14:useLocalDpi xmlns:a14="http://schemas.microsoft.com/office/drawing/2010/main" val="0"/>
              </a:ext>
            </a:extLst>
          </a:blip>
          <a:srcRect l="1901" r="815" b="6305"/>
          <a:stretch>
            <a:fillRect/>
          </a:stretch>
        </p:blipFill>
        <p:spPr>
          <a:xfrm>
            <a:off x="1494502" y="840049"/>
            <a:ext cx="8239433" cy="4066942"/>
          </a:xfrm>
          <a:prstGeom prst="rect">
            <a:avLst/>
          </a:prstGeom>
        </p:spPr>
      </p:pic>
      <p:sp>
        <p:nvSpPr>
          <p:cNvPr id="6" name="TextBox 5">
            <a:extLst>
              <a:ext uri="{FF2B5EF4-FFF2-40B4-BE49-F238E27FC236}">
                <a16:creationId xmlns:a16="http://schemas.microsoft.com/office/drawing/2014/main" id="{F593CE55-343B-A1F7-FDBD-EB6EB2A65F75}"/>
              </a:ext>
            </a:extLst>
          </p:cNvPr>
          <p:cNvSpPr txBox="1"/>
          <p:nvPr/>
        </p:nvSpPr>
        <p:spPr>
          <a:xfrm>
            <a:off x="2229307" y="4906991"/>
            <a:ext cx="8003458" cy="1200329"/>
          </a:xfrm>
          <a:prstGeom prst="rect">
            <a:avLst/>
          </a:prstGeom>
          <a:noFill/>
        </p:spPr>
        <p:txBody>
          <a:bodyPr wrap="square">
            <a:spAutoFit/>
          </a:bodyPr>
          <a:lstStyle/>
          <a:p>
            <a:pPr>
              <a:buFont typeface="Arial" panose="020B0604020202020204" pitchFamily="34" charset="0"/>
              <a:buChar char="•"/>
            </a:pPr>
            <a:r>
              <a:rPr lang="en-US" dirty="0">
                <a:solidFill>
                  <a:schemeClr val="bg2">
                    <a:lumMod val="50000"/>
                  </a:schemeClr>
                </a:solidFill>
              </a:rPr>
              <a:t>Launch success rate improved significantly after 2013 </a:t>
            </a:r>
          </a:p>
          <a:p>
            <a:pPr>
              <a:buFont typeface="Arial" panose="020B0604020202020204" pitchFamily="34" charset="0"/>
              <a:buChar char="•"/>
            </a:pPr>
            <a:r>
              <a:rPr lang="en-US" dirty="0">
                <a:solidFill>
                  <a:schemeClr val="bg2">
                    <a:lumMod val="50000"/>
                  </a:schemeClr>
                </a:solidFill>
              </a:rPr>
              <a:t>Success rate reached over 80% by 2020 </a:t>
            </a:r>
          </a:p>
          <a:p>
            <a:pPr>
              <a:buFont typeface="Arial" panose="020B0604020202020204" pitchFamily="34" charset="0"/>
              <a:buChar char="•"/>
            </a:pPr>
            <a:r>
              <a:rPr lang="en-US" dirty="0">
                <a:solidFill>
                  <a:schemeClr val="bg2">
                    <a:lumMod val="50000"/>
                  </a:schemeClr>
                </a:solidFill>
              </a:rPr>
              <a:t>A temporary decline observed in 2018 </a:t>
            </a:r>
          </a:p>
          <a:p>
            <a:pPr>
              <a:buFont typeface="Arial" panose="020B0604020202020204" pitchFamily="34" charset="0"/>
              <a:buChar char="•"/>
            </a:pPr>
            <a:r>
              <a:rPr lang="en-US" dirty="0">
                <a:solidFill>
                  <a:schemeClr val="bg2">
                    <a:lumMod val="50000"/>
                  </a:schemeClr>
                </a:solidFill>
              </a:rPr>
              <a:t>Overall trend shows increasing reliability of Falcon 9 launches </a:t>
            </a:r>
          </a:p>
        </p:txBody>
      </p:sp>
      <p:sp>
        <p:nvSpPr>
          <p:cNvPr id="10" name="TextBox 9">
            <a:extLst>
              <a:ext uri="{FF2B5EF4-FFF2-40B4-BE49-F238E27FC236}">
                <a16:creationId xmlns:a16="http://schemas.microsoft.com/office/drawing/2014/main" id="{0CB8582D-25A5-B111-3D87-619BD7B4C5AC}"/>
              </a:ext>
            </a:extLst>
          </p:cNvPr>
          <p:cNvSpPr txBox="1"/>
          <p:nvPr/>
        </p:nvSpPr>
        <p:spPr>
          <a:xfrm>
            <a:off x="4404851" y="328034"/>
            <a:ext cx="6096000" cy="369332"/>
          </a:xfrm>
          <a:prstGeom prst="rect">
            <a:avLst/>
          </a:prstGeom>
          <a:noFill/>
        </p:spPr>
        <p:txBody>
          <a:bodyPr wrap="square">
            <a:spAutoFit/>
          </a:bodyPr>
          <a:lstStyle/>
          <a:p>
            <a:r>
              <a:rPr lang="en-IN" dirty="0">
                <a:solidFill>
                  <a:schemeClr val="bg2">
                    <a:lumMod val="50000"/>
                  </a:schemeClr>
                </a:solidFill>
              </a:rPr>
              <a:t>Launch Success Yearly Trend</a:t>
            </a:r>
          </a:p>
        </p:txBody>
      </p:sp>
      <p:sp>
        <p:nvSpPr>
          <p:cNvPr id="2" name="TextBox 1">
            <a:extLst>
              <a:ext uri="{FF2B5EF4-FFF2-40B4-BE49-F238E27FC236}">
                <a16:creationId xmlns:a16="http://schemas.microsoft.com/office/drawing/2014/main" id="{7CB8A687-5D63-E096-63A8-300777074FBC}"/>
              </a:ext>
            </a:extLst>
          </p:cNvPr>
          <p:cNvSpPr txBox="1"/>
          <p:nvPr/>
        </p:nvSpPr>
        <p:spPr>
          <a:xfrm>
            <a:off x="2000139" y="6571376"/>
            <a:ext cx="8616526" cy="276999"/>
          </a:xfrm>
          <a:prstGeom prst="rect">
            <a:avLst/>
          </a:prstGeom>
          <a:noFill/>
        </p:spPr>
        <p:txBody>
          <a:bodyPr wrap="square" rtlCol="0">
            <a:spAutoFit/>
          </a:bodyPr>
          <a:lstStyle/>
          <a:p>
            <a:r>
              <a:rPr lang="en-IN" sz="1200" dirty="0" err="1"/>
              <a:t>Github</a:t>
            </a:r>
            <a:r>
              <a:rPr lang="en-IN" sz="1200" dirty="0"/>
              <a:t> URL: </a:t>
            </a:r>
            <a:r>
              <a:rPr lang="en-IN" sz="1200" dirty="0">
                <a:hlinkClick r:id="rId3" action="ppaction://hlinksldjump"/>
              </a:rPr>
              <a:t>https://github.com/Gauribuild/IBM-Applied-Data-Science-Capstone/blob/main/jupyter-labs-eda-dataviz.ipynb</a:t>
            </a:r>
            <a:endParaRPr lang="en-IN" sz="1200" dirty="0"/>
          </a:p>
        </p:txBody>
      </p:sp>
    </p:spTree>
    <p:extLst>
      <p:ext uri="{BB962C8B-B14F-4D97-AF65-F5344CB8AC3E}">
        <p14:creationId xmlns:p14="http://schemas.microsoft.com/office/powerpoint/2010/main" val="207044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E25E90-EF04-D2D6-A642-9F4B0BF05876}"/>
              </a:ext>
            </a:extLst>
          </p:cNvPr>
          <p:cNvSpPr txBox="1"/>
          <p:nvPr/>
        </p:nvSpPr>
        <p:spPr>
          <a:xfrm>
            <a:off x="368300" y="330200"/>
            <a:ext cx="7048500" cy="461665"/>
          </a:xfrm>
          <a:prstGeom prst="rect">
            <a:avLst/>
          </a:prstGeom>
          <a:noFill/>
        </p:spPr>
        <p:txBody>
          <a:bodyPr wrap="square" rtlCol="0">
            <a:spAutoFit/>
          </a:bodyPr>
          <a:lstStyle/>
          <a:p>
            <a:r>
              <a:rPr lang="en-US" sz="2400" b="1" dirty="0">
                <a:solidFill>
                  <a:schemeClr val="tx2">
                    <a:lumMod val="75000"/>
                    <a:lumOff val="25000"/>
                  </a:schemeClr>
                </a:solidFill>
              </a:rPr>
              <a:t>BUILD AN INTERACTIVE MAP WITH FOLIUM</a:t>
            </a:r>
            <a:endParaRPr lang="en-IN" sz="2400" b="1" dirty="0">
              <a:solidFill>
                <a:schemeClr val="tx2">
                  <a:lumMod val="75000"/>
                  <a:lumOff val="25000"/>
                </a:schemeClr>
              </a:solidFill>
            </a:endParaRPr>
          </a:p>
        </p:txBody>
      </p:sp>
      <p:cxnSp>
        <p:nvCxnSpPr>
          <p:cNvPr id="4" name="Straight Connector 3">
            <a:extLst>
              <a:ext uri="{FF2B5EF4-FFF2-40B4-BE49-F238E27FC236}">
                <a16:creationId xmlns:a16="http://schemas.microsoft.com/office/drawing/2014/main" id="{1B944F7B-FC08-13DA-C32B-A5FEC098BDE6}"/>
              </a:ext>
            </a:extLst>
          </p:cNvPr>
          <p:cNvCxnSpPr>
            <a:cxnSpLocks/>
          </p:cNvCxnSpPr>
          <p:nvPr/>
        </p:nvCxnSpPr>
        <p:spPr>
          <a:xfrm flipV="1">
            <a:off x="457200" y="719782"/>
            <a:ext cx="11455400" cy="93365"/>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EAD6754F-35B1-D787-E98D-63C88914DEF1}"/>
              </a:ext>
            </a:extLst>
          </p:cNvPr>
          <p:cNvSpPr txBox="1"/>
          <p:nvPr/>
        </p:nvSpPr>
        <p:spPr>
          <a:xfrm>
            <a:off x="368299" y="906714"/>
            <a:ext cx="10211211" cy="1200329"/>
          </a:xfrm>
          <a:prstGeom prst="rect">
            <a:avLst/>
          </a:prstGeom>
          <a:noFill/>
        </p:spPr>
        <p:txBody>
          <a:bodyPr wrap="square">
            <a:spAutoFit/>
          </a:bodyPr>
          <a:lstStyle/>
          <a:p>
            <a:pPr marL="285750" indent="-285750">
              <a:buFont typeface="Arial" panose="020B0604020202020204" pitchFamily="34" charset="0"/>
              <a:buChar char="•"/>
            </a:pPr>
            <a:r>
              <a:rPr lang="en-US" dirty="0"/>
              <a:t>Placed markers to indicate launch sites on the map.</a:t>
            </a:r>
          </a:p>
          <a:p>
            <a:pPr marL="285750" indent="-285750">
              <a:buFont typeface="Arial" panose="020B0604020202020204" pitchFamily="34" charset="0"/>
              <a:buChar char="•"/>
            </a:pPr>
            <a:r>
              <a:rPr lang="en-US" dirty="0"/>
              <a:t>Each marker represents a specific geographical location where SpaceX launches have occurred.</a:t>
            </a:r>
          </a:p>
          <a:p>
            <a:pPr marL="285750" indent="-285750">
              <a:buFont typeface="Arial" panose="020B0604020202020204" pitchFamily="34" charset="0"/>
              <a:buChar char="•"/>
            </a:pPr>
            <a:r>
              <a:rPr lang="en-US" dirty="0"/>
              <a:t>Added circles around launch sites to visually represent proximity zones.</a:t>
            </a:r>
          </a:p>
          <a:p>
            <a:pPr marL="285750" indent="-285750">
              <a:buFont typeface="Arial" panose="020B0604020202020204" pitchFamily="34" charset="0"/>
              <a:buChar char="•"/>
            </a:pPr>
            <a:r>
              <a:rPr lang="en-US" dirty="0"/>
              <a:t>Drew lines to connect launch sites with their proximities or other relevant locations.</a:t>
            </a:r>
            <a:endParaRPr lang="en-IN" dirty="0"/>
          </a:p>
        </p:txBody>
      </p:sp>
      <p:sp>
        <p:nvSpPr>
          <p:cNvPr id="6" name="TextBox 5">
            <a:extLst>
              <a:ext uri="{FF2B5EF4-FFF2-40B4-BE49-F238E27FC236}">
                <a16:creationId xmlns:a16="http://schemas.microsoft.com/office/drawing/2014/main" id="{9C03EDCA-4927-C4FC-85E0-D661409B555B}"/>
              </a:ext>
            </a:extLst>
          </p:cNvPr>
          <p:cNvSpPr txBox="1"/>
          <p:nvPr/>
        </p:nvSpPr>
        <p:spPr>
          <a:xfrm>
            <a:off x="315041" y="2040445"/>
            <a:ext cx="8121035" cy="461665"/>
          </a:xfrm>
          <a:prstGeom prst="rect">
            <a:avLst/>
          </a:prstGeom>
          <a:noFill/>
        </p:spPr>
        <p:txBody>
          <a:bodyPr wrap="square" rtlCol="0">
            <a:spAutoFit/>
          </a:bodyPr>
          <a:lstStyle/>
          <a:p>
            <a:r>
              <a:rPr lang="en-IN" sz="2400" b="1" dirty="0">
                <a:solidFill>
                  <a:schemeClr val="tx2">
                    <a:lumMod val="75000"/>
                    <a:lumOff val="25000"/>
                  </a:schemeClr>
                </a:solidFill>
              </a:rPr>
              <a:t>INSIGHTS FROM FOLIUM MAPS:</a:t>
            </a:r>
          </a:p>
        </p:txBody>
      </p:sp>
      <p:cxnSp>
        <p:nvCxnSpPr>
          <p:cNvPr id="7" name="Straight Connector 6">
            <a:extLst>
              <a:ext uri="{FF2B5EF4-FFF2-40B4-BE49-F238E27FC236}">
                <a16:creationId xmlns:a16="http://schemas.microsoft.com/office/drawing/2014/main" id="{B2200480-5DB4-F2CB-9904-EF099D3F098B}"/>
              </a:ext>
            </a:extLst>
          </p:cNvPr>
          <p:cNvCxnSpPr>
            <a:cxnSpLocks/>
          </p:cNvCxnSpPr>
          <p:nvPr/>
        </p:nvCxnSpPr>
        <p:spPr>
          <a:xfrm flipV="1">
            <a:off x="422788" y="2408903"/>
            <a:ext cx="11454171" cy="80646"/>
          </a:xfrm>
          <a:prstGeom prst="line">
            <a:avLst/>
          </a:prstGeom>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14C2D21E-DBEF-D5CC-3E54-B78BB261BDDB}"/>
              </a:ext>
            </a:extLst>
          </p:cNvPr>
          <p:cNvPicPr>
            <a:picLocks noChangeAspect="1"/>
          </p:cNvPicPr>
          <p:nvPr/>
        </p:nvPicPr>
        <p:blipFill>
          <a:blip r:embed="rId2">
            <a:extLst>
              <a:ext uri="{28A0092B-C50C-407E-A947-70E740481C1C}">
                <a14:useLocalDpi xmlns:a14="http://schemas.microsoft.com/office/drawing/2010/main" val="0"/>
              </a:ext>
            </a:extLst>
          </a:blip>
          <a:srcRect t="32019" b="11843"/>
          <a:stretch>
            <a:fillRect/>
          </a:stretch>
        </p:blipFill>
        <p:spPr>
          <a:xfrm>
            <a:off x="422788" y="2607017"/>
            <a:ext cx="5883370" cy="1931067"/>
          </a:xfrm>
          <a:prstGeom prst="rect">
            <a:avLst/>
          </a:prstGeom>
        </p:spPr>
      </p:pic>
      <p:sp>
        <p:nvSpPr>
          <p:cNvPr id="9" name="TextBox 8">
            <a:extLst>
              <a:ext uri="{FF2B5EF4-FFF2-40B4-BE49-F238E27FC236}">
                <a16:creationId xmlns:a16="http://schemas.microsoft.com/office/drawing/2014/main" id="{516B19B9-03FB-B102-6AB5-8D4E2075A28B}"/>
              </a:ext>
            </a:extLst>
          </p:cNvPr>
          <p:cNvSpPr txBox="1"/>
          <p:nvPr/>
        </p:nvSpPr>
        <p:spPr>
          <a:xfrm>
            <a:off x="308896" y="4538084"/>
            <a:ext cx="5997262" cy="2585323"/>
          </a:xfrm>
          <a:prstGeom prst="rect">
            <a:avLst/>
          </a:prstGeom>
          <a:noFill/>
        </p:spPr>
        <p:txBody>
          <a:bodyPr wrap="square">
            <a:spAutoFit/>
          </a:bodyPr>
          <a:lstStyle/>
          <a:p>
            <a:pPr marL="285750" indent="-285750">
              <a:buFont typeface="Arial" panose="020B0604020202020204" pitchFamily="34" charset="0"/>
              <a:buChar char="•"/>
            </a:pPr>
            <a:r>
              <a:rPr lang="en-US" dirty="0"/>
              <a:t>All launch sites are in close proximity to the coast.</a:t>
            </a:r>
          </a:p>
          <a:p>
            <a:pPr marL="285750" indent="-285750">
              <a:buFont typeface="Arial" panose="020B0604020202020204" pitchFamily="34" charset="0"/>
              <a:buChar char="•"/>
            </a:pPr>
            <a:r>
              <a:rPr lang="en-US" dirty="0"/>
              <a:t>All launch sites are not in close proximity to the Equator.</a:t>
            </a:r>
          </a:p>
          <a:p>
            <a:pPr marL="285750" indent="-285750">
              <a:buFont typeface="Arial" panose="020B0604020202020204" pitchFamily="34" charset="0"/>
              <a:buChar char="•"/>
            </a:pPr>
            <a:r>
              <a:rPr lang="en-US" dirty="0"/>
              <a:t>The risk of debris dropping near people is low.</a:t>
            </a:r>
          </a:p>
          <a:p>
            <a:pPr marL="285750" indent="-285750">
              <a:buFont typeface="Arial" panose="020B0604020202020204" pitchFamily="34" charset="0"/>
              <a:buChar char="•"/>
            </a:pPr>
            <a:r>
              <a:rPr lang="en-US" dirty="0"/>
              <a:t>The Cape Canaveral sites (CCAFS LC-40 and CCAFS SLC-40) and Kennedy Space Center (KSC LC-39A) are near the coast in Florida.</a:t>
            </a:r>
          </a:p>
          <a:p>
            <a:pPr marL="285750" indent="-285750">
              <a:buFont typeface="Arial" panose="020B0604020202020204" pitchFamily="34" charset="0"/>
              <a:buChar char="•"/>
            </a:pPr>
            <a:r>
              <a:rPr lang="en-US" dirty="0"/>
              <a:t>Vandenberg Air Force Base (VAFB SLC-4E) is also near the coast in California.</a:t>
            </a:r>
          </a:p>
          <a:p>
            <a:pPr marL="285750" indent="-285750">
              <a:buFont typeface="Arial" panose="020B0604020202020204" pitchFamily="34" charset="0"/>
              <a:buChar char="•"/>
            </a:pPr>
            <a:endParaRPr lang="en-IN" dirty="0"/>
          </a:p>
        </p:txBody>
      </p:sp>
      <p:pic>
        <p:nvPicPr>
          <p:cNvPr id="12" name="Picture 11">
            <a:extLst>
              <a:ext uri="{FF2B5EF4-FFF2-40B4-BE49-F238E27FC236}">
                <a16:creationId xmlns:a16="http://schemas.microsoft.com/office/drawing/2014/main" id="{817E137F-4811-9868-0132-E66554407C08}"/>
              </a:ext>
            </a:extLst>
          </p:cNvPr>
          <p:cNvPicPr>
            <a:picLocks noChangeAspect="1"/>
          </p:cNvPicPr>
          <p:nvPr/>
        </p:nvPicPr>
        <p:blipFill>
          <a:blip r:embed="rId3">
            <a:extLst>
              <a:ext uri="{28A0092B-C50C-407E-A947-70E740481C1C}">
                <a14:useLocalDpi xmlns:a14="http://schemas.microsoft.com/office/drawing/2010/main" val="0"/>
              </a:ext>
            </a:extLst>
          </a:blip>
          <a:srcRect l="16075" t="18374" r="12627" b="10019"/>
          <a:stretch>
            <a:fillRect/>
          </a:stretch>
        </p:blipFill>
        <p:spPr>
          <a:xfrm>
            <a:off x="9314769" y="2570791"/>
            <a:ext cx="2646287" cy="2096036"/>
          </a:xfrm>
          <a:prstGeom prst="rect">
            <a:avLst/>
          </a:prstGeom>
        </p:spPr>
      </p:pic>
      <p:pic>
        <p:nvPicPr>
          <p:cNvPr id="14" name="Picture 13">
            <a:extLst>
              <a:ext uri="{FF2B5EF4-FFF2-40B4-BE49-F238E27FC236}">
                <a16:creationId xmlns:a16="http://schemas.microsoft.com/office/drawing/2014/main" id="{77C52F92-F1EC-E55B-E053-B452881DCA2A}"/>
              </a:ext>
            </a:extLst>
          </p:cNvPr>
          <p:cNvPicPr>
            <a:picLocks noChangeAspect="1"/>
          </p:cNvPicPr>
          <p:nvPr/>
        </p:nvPicPr>
        <p:blipFill>
          <a:blip r:embed="rId4">
            <a:extLst>
              <a:ext uri="{28A0092B-C50C-407E-A947-70E740481C1C}">
                <a14:useLocalDpi xmlns:a14="http://schemas.microsoft.com/office/drawing/2010/main" val="0"/>
              </a:ext>
            </a:extLst>
          </a:blip>
          <a:srcRect l="9139" r="28872"/>
          <a:stretch>
            <a:fillRect/>
          </a:stretch>
        </p:blipFill>
        <p:spPr>
          <a:xfrm>
            <a:off x="6387967" y="2607017"/>
            <a:ext cx="2657710" cy="2096036"/>
          </a:xfrm>
          <a:prstGeom prst="rect">
            <a:avLst/>
          </a:prstGeom>
        </p:spPr>
      </p:pic>
      <p:pic>
        <p:nvPicPr>
          <p:cNvPr id="16" name="Picture 15">
            <a:extLst>
              <a:ext uri="{FF2B5EF4-FFF2-40B4-BE49-F238E27FC236}">
                <a16:creationId xmlns:a16="http://schemas.microsoft.com/office/drawing/2014/main" id="{053C4D3D-C81F-846D-DE5C-D9BD341BD6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50477" y="4772821"/>
            <a:ext cx="2562773" cy="1895499"/>
          </a:xfrm>
          <a:prstGeom prst="rect">
            <a:avLst/>
          </a:prstGeom>
        </p:spPr>
      </p:pic>
      <p:pic>
        <p:nvPicPr>
          <p:cNvPr id="18" name="Picture 17">
            <a:extLst>
              <a:ext uri="{FF2B5EF4-FFF2-40B4-BE49-F238E27FC236}">
                <a16:creationId xmlns:a16="http://schemas.microsoft.com/office/drawing/2014/main" id="{464957FF-E262-0311-91E2-19F3C4A6B0C0}"/>
              </a:ext>
            </a:extLst>
          </p:cNvPr>
          <p:cNvPicPr>
            <a:picLocks noChangeAspect="1"/>
          </p:cNvPicPr>
          <p:nvPr/>
        </p:nvPicPr>
        <p:blipFill>
          <a:blip r:embed="rId6">
            <a:extLst>
              <a:ext uri="{28A0092B-C50C-407E-A947-70E740481C1C}">
                <a14:useLocalDpi xmlns:a14="http://schemas.microsoft.com/office/drawing/2010/main" val="0"/>
              </a:ext>
            </a:extLst>
          </a:blip>
          <a:srcRect r="10800"/>
          <a:stretch>
            <a:fillRect/>
          </a:stretch>
        </p:blipFill>
        <p:spPr>
          <a:xfrm>
            <a:off x="6387967" y="4772821"/>
            <a:ext cx="2736368" cy="1895499"/>
          </a:xfrm>
          <a:prstGeom prst="rect">
            <a:avLst/>
          </a:prstGeom>
        </p:spPr>
      </p:pic>
      <p:sp>
        <p:nvSpPr>
          <p:cNvPr id="20" name="TextBox 19">
            <a:extLst>
              <a:ext uri="{FF2B5EF4-FFF2-40B4-BE49-F238E27FC236}">
                <a16:creationId xmlns:a16="http://schemas.microsoft.com/office/drawing/2014/main" id="{145A4E06-4D5E-996C-49D1-0B675AE667D3}"/>
              </a:ext>
            </a:extLst>
          </p:cNvPr>
          <p:cNvSpPr txBox="1"/>
          <p:nvPr/>
        </p:nvSpPr>
        <p:spPr>
          <a:xfrm>
            <a:off x="1990004" y="2538266"/>
            <a:ext cx="2635045" cy="369332"/>
          </a:xfrm>
          <a:prstGeom prst="rect">
            <a:avLst/>
          </a:prstGeom>
          <a:noFill/>
        </p:spPr>
        <p:txBody>
          <a:bodyPr wrap="square">
            <a:spAutoFit/>
          </a:bodyPr>
          <a:lstStyle/>
          <a:p>
            <a:r>
              <a:rPr lang="en-US" dirty="0">
                <a:solidFill>
                  <a:schemeClr val="bg2">
                    <a:lumMod val="50000"/>
                  </a:schemeClr>
                </a:solidFill>
              </a:rPr>
              <a:t>all launch sites on a map</a:t>
            </a:r>
            <a:endParaRPr lang="en-IN" dirty="0">
              <a:solidFill>
                <a:schemeClr val="bg2">
                  <a:lumMod val="50000"/>
                </a:schemeClr>
              </a:solidFill>
            </a:endParaRPr>
          </a:p>
        </p:txBody>
      </p:sp>
    </p:spTree>
    <p:extLst>
      <p:ext uri="{BB962C8B-B14F-4D97-AF65-F5344CB8AC3E}">
        <p14:creationId xmlns:p14="http://schemas.microsoft.com/office/powerpoint/2010/main" val="3803515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30D29C-9C77-FD98-0422-1000099BBBE9}"/>
              </a:ext>
            </a:extLst>
          </p:cNvPr>
          <p:cNvPicPr>
            <a:picLocks noChangeAspect="1"/>
          </p:cNvPicPr>
          <p:nvPr/>
        </p:nvPicPr>
        <p:blipFill>
          <a:blip r:embed="rId2">
            <a:extLst>
              <a:ext uri="{28A0092B-C50C-407E-A947-70E740481C1C}">
                <a14:useLocalDpi xmlns:a14="http://schemas.microsoft.com/office/drawing/2010/main" val="0"/>
              </a:ext>
            </a:extLst>
          </a:blip>
          <a:srcRect l="37580" t="30251" r="7744" b="12831"/>
          <a:stretch>
            <a:fillRect/>
          </a:stretch>
        </p:blipFill>
        <p:spPr>
          <a:xfrm>
            <a:off x="5965967" y="133615"/>
            <a:ext cx="5763765" cy="3374948"/>
          </a:xfrm>
          <a:prstGeom prst="rect">
            <a:avLst/>
          </a:prstGeom>
        </p:spPr>
      </p:pic>
      <p:sp>
        <p:nvSpPr>
          <p:cNvPr id="9" name="TextBox 8">
            <a:extLst>
              <a:ext uri="{FF2B5EF4-FFF2-40B4-BE49-F238E27FC236}">
                <a16:creationId xmlns:a16="http://schemas.microsoft.com/office/drawing/2014/main" id="{6149A348-9FD7-D6C1-5523-EDC6B92C8D05}"/>
              </a:ext>
            </a:extLst>
          </p:cNvPr>
          <p:cNvSpPr txBox="1"/>
          <p:nvPr/>
        </p:nvSpPr>
        <p:spPr>
          <a:xfrm>
            <a:off x="5897141" y="3620294"/>
            <a:ext cx="6163313" cy="2585323"/>
          </a:xfrm>
          <a:prstGeom prst="rect">
            <a:avLst/>
          </a:prstGeom>
          <a:noFill/>
        </p:spPr>
        <p:txBody>
          <a:bodyPr wrap="square">
            <a:spAutoFit/>
          </a:bodyPr>
          <a:lstStyle/>
          <a:p>
            <a:pPr marL="285750" indent="-285750">
              <a:buFont typeface="Arial" panose="020B0604020202020204" pitchFamily="34" charset="0"/>
              <a:buChar char="•"/>
            </a:pPr>
            <a:r>
              <a:rPr lang="en-US" dirty="0"/>
              <a:t>The calculated distance between the CCAFS SLC-40 launch site and the closest coastline is approximately 0.51 kilometers, as indicated by the marker. </a:t>
            </a:r>
          </a:p>
          <a:p>
            <a:pPr marL="285750" indent="-285750">
              <a:buFont typeface="Arial" panose="020B0604020202020204" pitchFamily="34" charset="0"/>
              <a:buChar char="•"/>
            </a:pPr>
            <a:r>
              <a:rPr lang="en-US" dirty="0"/>
              <a:t>The added </a:t>
            </a:r>
            <a:r>
              <a:rPr lang="en-US" dirty="0" err="1"/>
              <a:t>PolyLine</a:t>
            </a:r>
            <a:r>
              <a:rPr lang="en-US" dirty="0"/>
              <a:t> clearly shows the straight-line distance, highlighting the proximity of the launch site to the coast. </a:t>
            </a:r>
          </a:p>
          <a:p>
            <a:pPr marL="285750" indent="-285750">
              <a:buFont typeface="Arial" panose="020B0604020202020204" pitchFamily="34" charset="0"/>
              <a:buChar char="•"/>
            </a:pPr>
            <a:r>
              <a:rPr lang="en-US" dirty="0"/>
              <a:t>This close-proximity to the coastline is typical for launch sites to facilitate over-water flight paths and safe recovery operations, ensuring minimal risk to populated areas</a:t>
            </a:r>
            <a:endParaRPr lang="en-IN" dirty="0"/>
          </a:p>
        </p:txBody>
      </p:sp>
      <p:pic>
        <p:nvPicPr>
          <p:cNvPr id="8" name="Picture 7">
            <a:extLst>
              <a:ext uri="{FF2B5EF4-FFF2-40B4-BE49-F238E27FC236}">
                <a16:creationId xmlns:a16="http://schemas.microsoft.com/office/drawing/2014/main" id="{E8F9A524-1B85-82AF-4E8C-EA44EBD078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235" y="152864"/>
            <a:ext cx="5279770" cy="3374949"/>
          </a:xfrm>
          <a:prstGeom prst="rect">
            <a:avLst/>
          </a:prstGeom>
        </p:spPr>
      </p:pic>
      <p:sp>
        <p:nvSpPr>
          <p:cNvPr id="11" name="TextBox 10">
            <a:extLst>
              <a:ext uri="{FF2B5EF4-FFF2-40B4-BE49-F238E27FC236}">
                <a16:creationId xmlns:a16="http://schemas.microsoft.com/office/drawing/2014/main" id="{C1D1E836-4079-F033-9E53-C3ABB183180D}"/>
              </a:ext>
            </a:extLst>
          </p:cNvPr>
          <p:cNvSpPr txBox="1"/>
          <p:nvPr/>
        </p:nvSpPr>
        <p:spPr>
          <a:xfrm>
            <a:off x="236331" y="3664987"/>
            <a:ext cx="5471577" cy="1477328"/>
          </a:xfrm>
          <a:prstGeom prst="rect">
            <a:avLst/>
          </a:prstGeom>
          <a:noFill/>
        </p:spPr>
        <p:txBody>
          <a:bodyPr wrap="square">
            <a:spAutoFit/>
          </a:bodyPr>
          <a:lstStyle/>
          <a:p>
            <a:pPr marL="285750" indent="-285750">
              <a:buFont typeface="Arial" panose="020B0604020202020204" pitchFamily="34" charset="0"/>
              <a:buChar char="•"/>
            </a:pPr>
            <a:r>
              <a:rPr lang="en-US" dirty="0"/>
              <a:t>Out of 26 launch sites for CCAFS LC-40, there are 19 red markers and 7 green markers. </a:t>
            </a:r>
          </a:p>
          <a:p>
            <a:pPr marL="285750" indent="-285750">
              <a:buFont typeface="Arial" panose="020B0604020202020204" pitchFamily="34" charset="0"/>
              <a:buChar char="•"/>
            </a:pPr>
            <a:r>
              <a:rPr lang="en-US" dirty="0"/>
              <a:t>The red markers might represent unsuccessful launches, while the green markers indicate successful ones.</a:t>
            </a:r>
            <a:endParaRPr lang="en-IN" dirty="0"/>
          </a:p>
        </p:txBody>
      </p:sp>
      <p:sp>
        <p:nvSpPr>
          <p:cNvPr id="13" name="TextBox 12">
            <a:extLst>
              <a:ext uri="{FF2B5EF4-FFF2-40B4-BE49-F238E27FC236}">
                <a16:creationId xmlns:a16="http://schemas.microsoft.com/office/drawing/2014/main" id="{CED64D33-6A7F-74FE-35FA-28E9E35B48EA}"/>
              </a:ext>
            </a:extLst>
          </p:cNvPr>
          <p:cNvSpPr txBox="1"/>
          <p:nvPr/>
        </p:nvSpPr>
        <p:spPr>
          <a:xfrm>
            <a:off x="332235" y="518623"/>
            <a:ext cx="5105004" cy="646331"/>
          </a:xfrm>
          <a:prstGeom prst="rect">
            <a:avLst/>
          </a:prstGeom>
          <a:noFill/>
        </p:spPr>
        <p:txBody>
          <a:bodyPr wrap="square">
            <a:spAutoFit/>
          </a:bodyPr>
          <a:lstStyle/>
          <a:p>
            <a:r>
              <a:rPr lang="en-US" dirty="0">
                <a:solidFill>
                  <a:schemeClr val="bg2">
                    <a:lumMod val="50000"/>
                  </a:schemeClr>
                </a:solidFill>
              </a:rPr>
              <a:t>Mark the success/failed launches for each site on the map</a:t>
            </a:r>
            <a:endParaRPr lang="en-IN" dirty="0">
              <a:solidFill>
                <a:schemeClr val="bg2">
                  <a:lumMod val="50000"/>
                </a:schemeClr>
              </a:solidFill>
            </a:endParaRPr>
          </a:p>
        </p:txBody>
      </p:sp>
      <p:sp>
        <p:nvSpPr>
          <p:cNvPr id="15" name="TextBox 14">
            <a:extLst>
              <a:ext uri="{FF2B5EF4-FFF2-40B4-BE49-F238E27FC236}">
                <a16:creationId xmlns:a16="http://schemas.microsoft.com/office/drawing/2014/main" id="{009E3E62-B551-3FA3-3DCB-75E4F39EAD88}"/>
              </a:ext>
            </a:extLst>
          </p:cNvPr>
          <p:cNvSpPr txBox="1"/>
          <p:nvPr/>
        </p:nvSpPr>
        <p:spPr>
          <a:xfrm>
            <a:off x="6341807" y="498959"/>
            <a:ext cx="5279770" cy="665995"/>
          </a:xfrm>
          <a:prstGeom prst="rect">
            <a:avLst/>
          </a:prstGeom>
          <a:noFill/>
        </p:spPr>
        <p:txBody>
          <a:bodyPr wrap="square">
            <a:spAutoFit/>
          </a:bodyPr>
          <a:lstStyle/>
          <a:p>
            <a:r>
              <a:rPr lang="en-US" dirty="0">
                <a:solidFill>
                  <a:schemeClr val="bg2">
                    <a:lumMod val="50000"/>
                  </a:schemeClr>
                </a:solidFill>
              </a:rPr>
              <a:t>Calculate the distances between a launch site to its proximities</a:t>
            </a:r>
            <a:endParaRPr lang="en-IN" dirty="0">
              <a:solidFill>
                <a:schemeClr val="bg2">
                  <a:lumMod val="50000"/>
                </a:schemeClr>
              </a:solidFill>
            </a:endParaRPr>
          </a:p>
        </p:txBody>
      </p:sp>
      <p:sp>
        <p:nvSpPr>
          <p:cNvPr id="16" name="TextBox 15">
            <a:extLst>
              <a:ext uri="{FF2B5EF4-FFF2-40B4-BE49-F238E27FC236}">
                <a16:creationId xmlns:a16="http://schemas.microsoft.com/office/drawing/2014/main" id="{A74301E9-4921-1ED8-34E1-1DD8DB542ABB}"/>
              </a:ext>
            </a:extLst>
          </p:cNvPr>
          <p:cNvSpPr txBox="1"/>
          <p:nvPr/>
        </p:nvSpPr>
        <p:spPr>
          <a:xfrm>
            <a:off x="1582114" y="6566636"/>
            <a:ext cx="9519386" cy="276999"/>
          </a:xfrm>
          <a:prstGeom prst="rect">
            <a:avLst/>
          </a:prstGeom>
          <a:noFill/>
        </p:spPr>
        <p:txBody>
          <a:bodyPr wrap="square" rtlCol="0">
            <a:spAutoFit/>
          </a:bodyPr>
          <a:lstStyle/>
          <a:p>
            <a:r>
              <a:rPr lang="en-IN" sz="1200" dirty="0" err="1"/>
              <a:t>Github</a:t>
            </a:r>
            <a:r>
              <a:rPr lang="en-IN" sz="1200" dirty="0"/>
              <a:t> URL: </a:t>
            </a:r>
            <a:r>
              <a:rPr lang="en-IN" sz="1200" dirty="0">
                <a:hlinkClick r:id="rId4" action="ppaction://hlinksldjump"/>
              </a:rPr>
              <a:t>https://github.com/Gauribuild/IBM-Applied-Data-Science-Capstone/blob/main/lab_jupyter_launch_site_location%20(1).ipynb</a:t>
            </a:r>
            <a:endParaRPr lang="en-IN" sz="1200" dirty="0"/>
          </a:p>
        </p:txBody>
      </p:sp>
    </p:spTree>
    <p:extLst>
      <p:ext uri="{BB962C8B-B14F-4D97-AF65-F5344CB8AC3E}">
        <p14:creationId xmlns:p14="http://schemas.microsoft.com/office/powerpoint/2010/main" val="973804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890B8F-8458-1CE0-2783-611AC6A0746B}"/>
              </a:ext>
            </a:extLst>
          </p:cNvPr>
          <p:cNvSpPr txBox="1"/>
          <p:nvPr/>
        </p:nvSpPr>
        <p:spPr>
          <a:xfrm>
            <a:off x="355600" y="228600"/>
            <a:ext cx="8445500" cy="461665"/>
          </a:xfrm>
          <a:prstGeom prst="rect">
            <a:avLst/>
          </a:prstGeom>
          <a:noFill/>
        </p:spPr>
        <p:txBody>
          <a:bodyPr wrap="square" rtlCol="0">
            <a:spAutoFit/>
          </a:bodyPr>
          <a:lstStyle/>
          <a:p>
            <a:r>
              <a:rPr lang="en-US" sz="2400" b="1" dirty="0">
                <a:solidFill>
                  <a:schemeClr val="tx2">
                    <a:lumMod val="75000"/>
                    <a:lumOff val="25000"/>
                  </a:schemeClr>
                </a:solidFill>
              </a:rPr>
              <a:t>BUILD A DASHBOARD WITH PLOTLY DASH</a:t>
            </a:r>
            <a:endParaRPr lang="en-IN" sz="2400" b="1" dirty="0">
              <a:solidFill>
                <a:schemeClr val="tx2">
                  <a:lumMod val="75000"/>
                  <a:lumOff val="25000"/>
                </a:schemeClr>
              </a:solidFill>
            </a:endParaRPr>
          </a:p>
        </p:txBody>
      </p:sp>
      <p:cxnSp>
        <p:nvCxnSpPr>
          <p:cNvPr id="4" name="Straight Connector 3">
            <a:extLst>
              <a:ext uri="{FF2B5EF4-FFF2-40B4-BE49-F238E27FC236}">
                <a16:creationId xmlns:a16="http://schemas.microsoft.com/office/drawing/2014/main" id="{5BAB7D31-D3B6-8A7E-9040-7439B1F0ED01}"/>
              </a:ext>
            </a:extLst>
          </p:cNvPr>
          <p:cNvCxnSpPr>
            <a:cxnSpLocks/>
          </p:cNvCxnSpPr>
          <p:nvPr/>
        </p:nvCxnSpPr>
        <p:spPr>
          <a:xfrm>
            <a:off x="457200" y="690265"/>
            <a:ext cx="1123950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AF25A77-C616-8B73-C722-603735F6EBB7}"/>
              </a:ext>
            </a:extLst>
          </p:cNvPr>
          <p:cNvSpPr txBox="1"/>
          <p:nvPr/>
        </p:nvSpPr>
        <p:spPr>
          <a:xfrm>
            <a:off x="355600" y="828764"/>
            <a:ext cx="11610258" cy="1754326"/>
          </a:xfrm>
          <a:prstGeom prst="rect">
            <a:avLst/>
          </a:prstGeom>
          <a:noFill/>
        </p:spPr>
        <p:txBody>
          <a:bodyPr wrap="square">
            <a:spAutoFit/>
          </a:bodyPr>
          <a:lstStyle/>
          <a:p>
            <a:pPr marL="285750" indent="-285750">
              <a:buFont typeface="Arial" panose="020B0604020202020204" pitchFamily="34" charset="0"/>
              <a:buChar char="•"/>
            </a:pPr>
            <a:r>
              <a:rPr lang="en-US" dirty="0"/>
              <a:t>Added success </a:t>
            </a:r>
            <a:r>
              <a:rPr lang="en-US" b="1" dirty="0"/>
              <a:t>Pie Chart </a:t>
            </a:r>
            <a:r>
              <a:rPr lang="en-US" dirty="0"/>
              <a:t>to display the distribution of successful and failed launches which helps visualize the overall success rate and performance trends.</a:t>
            </a:r>
          </a:p>
          <a:p>
            <a:pPr marL="285750" indent="-285750">
              <a:buFont typeface="Arial" panose="020B0604020202020204" pitchFamily="34" charset="0"/>
              <a:buChar char="•"/>
            </a:pPr>
            <a:r>
              <a:rPr lang="en-US" dirty="0"/>
              <a:t>Added </a:t>
            </a:r>
            <a:r>
              <a:rPr lang="en-US" b="1" dirty="0"/>
              <a:t>Launch Site Dropdown </a:t>
            </a:r>
            <a:r>
              <a:rPr lang="en-US" dirty="0"/>
              <a:t>which enables users to select specific launch sites for analysis and, facilitates filtering and focused exploration based on geographical locations.</a:t>
            </a:r>
          </a:p>
          <a:p>
            <a:pPr marL="285750" indent="-285750">
              <a:buFont typeface="Arial" panose="020B0604020202020204" pitchFamily="34" charset="0"/>
              <a:buChar char="•"/>
            </a:pPr>
            <a:r>
              <a:rPr lang="en-US" dirty="0"/>
              <a:t>Added Success-Payload </a:t>
            </a:r>
            <a:r>
              <a:rPr lang="en-US" b="1" dirty="0"/>
              <a:t>Scatter Plot </a:t>
            </a:r>
            <a:r>
              <a:rPr lang="en-US" dirty="0"/>
              <a:t>that</a:t>
            </a:r>
            <a:r>
              <a:rPr lang="en-US" b="1" dirty="0"/>
              <a:t> </a:t>
            </a:r>
            <a:r>
              <a:rPr lang="en-US" dirty="0"/>
              <a:t>shows the relationship between payload mass and launch success which allows users to explore how payload mass influences mission outcomes.</a:t>
            </a:r>
            <a:endParaRPr lang="en-IN" dirty="0"/>
          </a:p>
        </p:txBody>
      </p:sp>
      <p:sp>
        <p:nvSpPr>
          <p:cNvPr id="6" name="TextBox 5">
            <a:extLst>
              <a:ext uri="{FF2B5EF4-FFF2-40B4-BE49-F238E27FC236}">
                <a16:creationId xmlns:a16="http://schemas.microsoft.com/office/drawing/2014/main" id="{B3527084-C933-E67C-5D4E-0399C8C84F1D}"/>
              </a:ext>
            </a:extLst>
          </p:cNvPr>
          <p:cNvSpPr txBox="1"/>
          <p:nvPr/>
        </p:nvSpPr>
        <p:spPr>
          <a:xfrm>
            <a:off x="355600" y="2549747"/>
            <a:ext cx="8121035" cy="461665"/>
          </a:xfrm>
          <a:prstGeom prst="rect">
            <a:avLst/>
          </a:prstGeom>
          <a:noFill/>
        </p:spPr>
        <p:txBody>
          <a:bodyPr wrap="square" rtlCol="0">
            <a:spAutoFit/>
          </a:bodyPr>
          <a:lstStyle/>
          <a:p>
            <a:r>
              <a:rPr lang="en-IN" sz="2400" b="1" dirty="0">
                <a:solidFill>
                  <a:schemeClr val="tx2">
                    <a:lumMod val="75000"/>
                    <a:lumOff val="25000"/>
                  </a:schemeClr>
                </a:solidFill>
              </a:rPr>
              <a:t>INSIGHTS FROM SPACEX LAUNCH DASHBOARD:</a:t>
            </a:r>
          </a:p>
        </p:txBody>
      </p:sp>
      <p:cxnSp>
        <p:nvCxnSpPr>
          <p:cNvPr id="7" name="Straight Connector 6">
            <a:extLst>
              <a:ext uri="{FF2B5EF4-FFF2-40B4-BE49-F238E27FC236}">
                <a16:creationId xmlns:a16="http://schemas.microsoft.com/office/drawing/2014/main" id="{B62DF59C-CB91-CA91-5095-70E722EA049A}"/>
              </a:ext>
            </a:extLst>
          </p:cNvPr>
          <p:cNvCxnSpPr>
            <a:cxnSpLocks/>
          </p:cNvCxnSpPr>
          <p:nvPr/>
        </p:nvCxnSpPr>
        <p:spPr>
          <a:xfrm>
            <a:off x="462119" y="2976269"/>
            <a:ext cx="11239500" cy="0"/>
          </a:xfrm>
          <a:prstGeom prst="line">
            <a:avLst/>
          </a:prstGeom>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9142465E-6EDD-2302-F248-509C2E3AFA18}"/>
              </a:ext>
            </a:extLst>
          </p:cNvPr>
          <p:cNvPicPr>
            <a:picLocks noChangeAspect="1"/>
          </p:cNvPicPr>
          <p:nvPr/>
        </p:nvPicPr>
        <p:blipFill>
          <a:blip r:embed="rId2">
            <a:extLst>
              <a:ext uri="{28A0092B-C50C-407E-A947-70E740481C1C}">
                <a14:useLocalDpi xmlns:a14="http://schemas.microsoft.com/office/drawing/2010/main" val="0"/>
              </a:ext>
            </a:extLst>
          </a:blip>
          <a:srcRect r="7580"/>
          <a:stretch>
            <a:fillRect/>
          </a:stretch>
        </p:blipFill>
        <p:spPr>
          <a:xfrm>
            <a:off x="457200" y="3034847"/>
            <a:ext cx="7831394" cy="1428998"/>
          </a:xfrm>
          <a:prstGeom prst="rect">
            <a:avLst/>
          </a:prstGeom>
        </p:spPr>
      </p:pic>
      <p:pic>
        <p:nvPicPr>
          <p:cNvPr id="9" name="Picture 8">
            <a:extLst>
              <a:ext uri="{FF2B5EF4-FFF2-40B4-BE49-F238E27FC236}">
                <a16:creationId xmlns:a16="http://schemas.microsoft.com/office/drawing/2014/main" id="{A256B8BB-F288-9831-C419-20F8CE389576}"/>
              </a:ext>
            </a:extLst>
          </p:cNvPr>
          <p:cNvPicPr>
            <a:picLocks noChangeAspect="1"/>
          </p:cNvPicPr>
          <p:nvPr/>
        </p:nvPicPr>
        <p:blipFill>
          <a:blip r:embed="rId3">
            <a:extLst>
              <a:ext uri="{28A0092B-C50C-407E-A947-70E740481C1C}">
                <a14:useLocalDpi xmlns:a14="http://schemas.microsoft.com/office/drawing/2010/main" val="0"/>
              </a:ext>
            </a:extLst>
          </a:blip>
          <a:srcRect l="38497" t="27707" r="42035" b="50552"/>
          <a:stretch>
            <a:fillRect/>
          </a:stretch>
        </p:blipFill>
        <p:spPr>
          <a:xfrm>
            <a:off x="7072730" y="4180422"/>
            <a:ext cx="3901006" cy="2450514"/>
          </a:xfrm>
          <a:prstGeom prst="rect">
            <a:avLst/>
          </a:prstGeom>
        </p:spPr>
      </p:pic>
      <p:pic>
        <p:nvPicPr>
          <p:cNvPr id="10" name="Picture 9">
            <a:extLst>
              <a:ext uri="{FF2B5EF4-FFF2-40B4-BE49-F238E27FC236}">
                <a16:creationId xmlns:a16="http://schemas.microsoft.com/office/drawing/2014/main" id="{BA7DF0F3-63DA-534E-6311-D521C718CFE1}"/>
              </a:ext>
            </a:extLst>
          </p:cNvPr>
          <p:cNvPicPr>
            <a:picLocks noChangeAspect="1"/>
          </p:cNvPicPr>
          <p:nvPr/>
        </p:nvPicPr>
        <p:blipFill>
          <a:blip r:embed="rId3">
            <a:extLst>
              <a:ext uri="{28A0092B-C50C-407E-A947-70E740481C1C}">
                <a14:useLocalDpi xmlns:a14="http://schemas.microsoft.com/office/drawing/2010/main" val="0"/>
              </a:ext>
            </a:extLst>
          </a:blip>
          <a:srcRect l="92507" t="24112" r="515" b="61270"/>
          <a:stretch>
            <a:fillRect/>
          </a:stretch>
        </p:blipFill>
        <p:spPr>
          <a:xfrm>
            <a:off x="9998762" y="4048434"/>
            <a:ext cx="1556657" cy="1834177"/>
          </a:xfrm>
          <a:prstGeom prst="rect">
            <a:avLst/>
          </a:prstGeom>
        </p:spPr>
      </p:pic>
      <p:sp>
        <p:nvSpPr>
          <p:cNvPr id="12" name="TextBox 11">
            <a:extLst>
              <a:ext uri="{FF2B5EF4-FFF2-40B4-BE49-F238E27FC236}">
                <a16:creationId xmlns:a16="http://schemas.microsoft.com/office/drawing/2014/main" id="{C45FB019-371C-3D3F-A5E8-10584CC97A53}"/>
              </a:ext>
            </a:extLst>
          </p:cNvPr>
          <p:cNvSpPr txBox="1"/>
          <p:nvPr/>
        </p:nvSpPr>
        <p:spPr>
          <a:xfrm>
            <a:off x="8476635" y="3115462"/>
            <a:ext cx="3489223" cy="646331"/>
          </a:xfrm>
          <a:prstGeom prst="rect">
            <a:avLst/>
          </a:prstGeom>
          <a:noFill/>
        </p:spPr>
        <p:txBody>
          <a:bodyPr wrap="square">
            <a:spAutoFit/>
          </a:bodyPr>
          <a:lstStyle/>
          <a:p>
            <a:r>
              <a:rPr lang="en-US" dirty="0">
                <a:solidFill>
                  <a:schemeClr val="bg2">
                    <a:lumMod val="50000"/>
                  </a:schemeClr>
                </a:solidFill>
              </a:rPr>
              <a:t>Launch Site Dropdown showing all the names of launch sites.</a:t>
            </a:r>
            <a:endParaRPr lang="en-IN" dirty="0">
              <a:solidFill>
                <a:schemeClr val="bg2">
                  <a:lumMod val="50000"/>
                </a:schemeClr>
              </a:solidFill>
            </a:endParaRPr>
          </a:p>
        </p:txBody>
      </p:sp>
      <p:sp>
        <p:nvSpPr>
          <p:cNvPr id="14" name="TextBox 13">
            <a:extLst>
              <a:ext uri="{FF2B5EF4-FFF2-40B4-BE49-F238E27FC236}">
                <a16:creationId xmlns:a16="http://schemas.microsoft.com/office/drawing/2014/main" id="{A446C666-293F-E1D0-5DA7-A681500AE5E4}"/>
              </a:ext>
            </a:extLst>
          </p:cNvPr>
          <p:cNvSpPr txBox="1"/>
          <p:nvPr/>
        </p:nvSpPr>
        <p:spPr>
          <a:xfrm>
            <a:off x="355600" y="4598075"/>
            <a:ext cx="7185742" cy="2031325"/>
          </a:xfrm>
          <a:prstGeom prst="rect">
            <a:avLst/>
          </a:prstGeom>
          <a:noFill/>
        </p:spPr>
        <p:txBody>
          <a:bodyPr wrap="square">
            <a:spAutoFit/>
          </a:bodyPr>
          <a:lstStyle/>
          <a:p>
            <a:pPr marL="285750" indent="-285750">
              <a:buFont typeface="Arial" panose="020B0604020202020204" pitchFamily="34" charset="0"/>
              <a:buChar char="•"/>
            </a:pPr>
            <a:r>
              <a:rPr lang="en-US" dirty="0"/>
              <a:t>CCAFS LC-40: 29.2%</a:t>
            </a:r>
          </a:p>
          <a:p>
            <a:pPr marL="285750" indent="-285750">
              <a:buFont typeface="Arial" panose="020B0604020202020204" pitchFamily="34" charset="0"/>
              <a:buChar char="•"/>
            </a:pPr>
            <a:r>
              <a:rPr lang="en-US" dirty="0"/>
              <a:t>VAFB SLC-4E: 16.7%</a:t>
            </a:r>
          </a:p>
          <a:p>
            <a:pPr marL="285750" indent="-285750">
              <a:buFont typeface="Arial" panose="020B0604020202020204" pitchFamily="34" charset="0"/>
              <a:buChar char="•"/>
            </a:pPr>
            <a:r>
              <a:rPr lang="en-US" dirty="0"/>
              <a:t>CCAFS SLC-40: 12.5%</a:t>
            </a:r>
          </a:p>
          <a:p>
            <a:pPr marL="285750" indent="-285750">
              <a:buFont typeface="Arial" panose="020B0604020202020204" pitchFamily="34" charset="0"/>
              <a:buChar char="•"/>
            </a:pPr>
            <a:r>
              <a:rPr lang="en-US" dirty="0"/>
              <a:t>KSC LC-39A: 41.7%</a:t>
            </a:r>
          </a:p>
          <a:p>
            <a:pPr marL="285750" indent="-285750">
              <a:buFont typeface="Arial" panose="020B0604020202020204" pitchFamily="34" charset="0"/>
              <a:buChar char="•"/>
            </a:pPr>
            <a:r>
              <a:rPr lang="en-US" dirty="0"/>
              <a:t>The KSC LC-39A launch site has the highest number of successful launches, making up 41.7% of the total successes. This indicates that KSC LC-39A is a highly reliable site for SpaceX launches.</a:t>
            </a:r>
            <a:endParaRPr lang="en-IN" dirty="0"/>
          </a:p>
        </p:txBody>
      </p:sp>
    </p:spTree>
    <p:extLst>
      <p:ext uri="{BB962C8B-B14F-4D97-AF65-F5344CB8AC3E}">
        <p14:creationId xmlns:p14="http://schemas.microsoft.com/office/powerpoint/2010/main" val="8621039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4D6FBD8-D2CC-F6A8-59A0-EE5D8DF4BE99}"/>
              </a:ext>
            </a:extLst>
          </p:cNvPr>
          <p:cNvPicPr>
            <a:picLocks noChangeAspect="1"/>
          </p:cNvPicPr>
          <p:nvPr/>
        </p:nvPicPr>
        <p:blipFill>
          <a:blip r:embed="rId3">
            <a:extLst>
              <a:ext uri="{28A0092B-C50C-407E-A947-70E740481C1C}">
                <a14:useLocalDpi xmlns:a14="http://schemas.microsoft.com/office/drawing/2010/main" val="0"/>
              </a:ext>
            </a:extLst>
          </a:blip>
          <a:srcRect l="571" t="532" r="436" b="49799"/>
          <a:stretch>
            <a:fillRect/>
          </a:stretch>
        </p:blipFill>
        <p:spPr>
          <a:xfrm>
            <a:off x="4746172" y="160507"/>
            <a:ext cx="7315200" cy="3268493"/>
          </a:xfrm>
          <a:prstGeom prst="rect">
            <a:avLst/>
          </a:prstGeom>
        </p:spPr>
      </p:pic>
      <p:pic>
        <p:nvPicPr>
          <p:cNvPr id="7" name="Picture 6">
            <a:extLst>
              <a:ext uri="{FF2B5EF4-FFF2-40B4-BE49-F238E27FC236}">
                <a16:creationId xmlns:a16="http://schemas.microsoft.com/office/drawing/2014/main" id="{8C021CF3-ADFF-88DB-BDF2-28DBF8D4A9E3}"/>
              </a:ext>
            </a:extLst>
          </p:cNvPr>
          <p:cNvPicPr>
            <a:picLocks noChangeAspect="1"/>
          </p:cNvPicPr>
          <p:nvPr/>
        </p:nvPicPr>
        <p:blipFill>
          <a:blip r:embed="rId3">
            <a:extLst>
              <a:ext uri="{28A0092B-C50C-407E-A947-70E740481C1C}">
                <a14:useLocalDpi xmlns:a14="http://schemas.microsoft.com/office/drawing/2010/main" val="0"/>
              </a:ext>
            </a:extLst>
          </a:blip>
          <a:srcRect l="325" t="53003" r="683" b="8550"/>
          <a:stretch>
            <a:fillRect/>
          </a:stretch>
        </p:blipFill>
        <p:spPr>
          <a:xfrm>
            <a:off x="4746172" y="3672952"/>
            <a:ext cx="7403119" cy="2435640"/>
          </a:xfrm>
          <a:prstGeom prst="rect">
            <a:avLst/>
          </a:prstGeom>
        </p:spPr>
      </p:pic>
      <p:pic>
        <p:nvPicPr>
          <p:cNvPr id="8" name="Picture 7">
            <a:extLst>
              <a:ext uri="{FF2B5EF4-FFF2-40B4-BE49-F238E27FC236}">
                <a16:creationId xmlns:a16="http://schemas.microsoft.com/office/drawing/2014/main" id="{A290B1EE-A9C9-743E-F431-0D566952AA24}"/>
              </a:ext>
            </a:extLst>
          </p:cNvPr>
          <p:cNvPicPr>
            <a:picLocks noChangeAspect="1"/>
          </p:cNvPicPr>
          <p:nvPr/>
        </p:nvPicPr>
        <p:blipFill>
          <a:blip r:embed="rId3">
            <a:extLst>
              <a:ext uri="{28A0092B-C50C-407E-A947-70E740481C1C}">
                <a14:useLocalDpi xmlns:a14="http://schemas.microsoft.com/office/drawing/2010/main" val="0"/>
              </a:ext>
            </a:extLst>
          </a:blip>
          <a:srcRect l="38497" t="27707" r="42035" b="50552"/>
          <a:stretch>
            <a:fillRect/>
          </a:stretch>
        </p:blipFill>
        <p:spPr>
          <a:xfrm>
            <a:off x="6652297" y="1622279"/>
            <a:ext cx="3340788" cy="2098599"/>
          </a:xfrm>
          <a:prstGeom prst="rect">
            <a:avLst/>
          </a:prstGeom>
        </p:spPr>
      </p:pic>
      <p:pic>
        <p:nvPicPr>
          <p:cNvPr id="9" name="Picture 8">
            <a:extLst>
              <a:ext uri="{FF2B5EF4-FFF2-40B4-BE49-F238E27FC236}">
                <a16:creationId xmlns:a16="http://schemas.microsoft.com/office/drawing/2014/main" id="{9C248180-803A-1C00-EE73-C42015ECAC37}"/>
              </a:ext>
            </a:extLst>
          </p:cNvPr>
          <p:cNvPicPr>
            <a:picLocks noChangeAspect="1"/>
          </p:cNvPicPr>
          <p:nvPr/>
        </p:nvPicPr>
        <p:blipFill>
          <a:blip r:embed="rId3">
            <a:extLst>
              <a:ext uri="{28A0092B-C50C-407E-A947-70E740481C1C}">
                <a14:useLocalDpi xmlns:a14="http://schemas.microsoft.com/office/drawing/2010/main" val="0"/>
              </a:ext>
            </a:extLst>
          </a:blip>
          <a:srcRect l="92507" t="24112" r="515" b="61270"/>
          <a:stretch>
            <a:fillRect/>
          </a:stretch>
        </p:blipFill>
        <p:spPr>
          <a:xfrm>
            <a:off x="10504715" y="1479405"/>
            <a:ext cx="1556657" cy="1834177"/>
          </a:xfrm>
          <a:prstGeom prst="rect">
            <a:avLst/>
          </a:prstGeom>
        </p:spPr>
      </p:pic>
      <p:sp>
        <p:nvSpPr>
          <p:cNvPr id="11" name="TextBox 10">
            <a:extLst>
              <a:ext uri="{FF2B5EF4-FFF2-40B4-BE49-F238E27FC236}">
                <a16:creationId xmlns:a16="http://schemas.microsoft.com/office/drawing/2014/main" id="{5AE3F33E-7C4F-58A4-F0DC-9549EA9C2E23}"/>
              </a:ext>
            </a:extLst>
          </p:cNvPr>
          <p:cNvSpPr txBox="1"/>
          <p:nvPr/>
        </p:nvSpPr>
        <p:spPr>
          <a:xfrm>
            <a:off x="130628" y="329617"/>
            <a:ext cx="4371974" cy="2585323"/>
          </a:xfrm>
          <a:prstGeom prst="rect">
            <a:avLst/>
          </a:prstGeom>
          <a:noFill/>
        </p:spPr>
        <p:txBody>
          <a:bodyPr wrap="square">
            <a:spAutoFit/>
          </a:bodyPr>
          <a:lstStyle/>
          <a:p>
            <a:pPr marL="285750" indent="-285750">
              <a:buFont typeface="Arial" panose="020B0604020202020204" pitchFamily="34" charset="0"/>
              <a:buChar char="•"/>
            </a:pPr>
            <a:r>
              <a:rPr lang="en-US" dirty="0"/>
              <a:t>CCAFS LC-40 has the highest success rate with 43.7% of successful launches.</a:t>
            </a:r>
          </a:p>
          <a:p>
            <a:pPr marL="285750" indent="-285750">
              <a:buFont typeface="Arial" panose="020B0604020202020204" pitchFamily="34" charset="0"/>
              <a:buChar char="•"/>
            </a:pPr>
            <a:r>
              <a:rPr lang="en-US" dirty="0"/>
              <a:t>This suggests that CCAFS LC-40 is the most reliable launch site among the ones analyzed.</a:t>
            </a:r>
          </a:p>
          <a:p>
            <a:pPr marL="285750" indent="-285750">
              <a:buFont typeface="Arial" panose="020B0604020202020204" pitchFamily="34" charset="0"/>
              <a:buChar char="•"/>
            </a:pPr>
            <a:r>
              <a:rPr lang="en-US" dirty="0"/>
              <a:t>Other sites like KSC LC-39A, VAFB SLC 4E, and CCAFS SLC-40 have lower success rates, indicating variability in launch success across different sites.</a:t>
            </a:r>
            <a:endParaRPr lang="en-IN" dirty="0"/>
          </a:p>
        </p:txBody>
      </p:sp>
      <p:sp>
        <p:nvSpPr>
          <p:cNvPr id="13" name="TextBox 12">
            <a:extLst>
              <a:ext uri="{FF2B5EF4-FFF2-40B4-BE49-F238E27FC236}">
                <a16:creationId xmlns:a16="http://schemas.microsoft.com/office/drawing/2014/main" id="{DDD10114-C91F-8963-FDD0-04739C7D6B78}"/>
              </a:ext>
            </a:extLst>
          </p:cNvPr>
          <p:cNvSpPr txBox="1"/>
          <p:nvPr/>
        </p:nvSpPr>
        <p:spPr>
          <a:xfrm>
            <a:off x="42709" y="3547944"/>
            <a:ext cx="4371975" cy="2862322"/>
          </a:xfrm>
          <a:prstGeom prst="rect">
            <a:avLst/>
          </a:prstGeom>
          <a:noFill/>
        </p:spPr>
        <p:txBody>
          <a:bodyPr wrap="square">
            <a:spAutoFit/>
          </a:bodyPr>
          <a:lstStyle/>
          <a:p>
            <a:pPr marL="285750" indent="-285750">
              <a:buFont typeface="Arial" panose="020B0604020202020204" pitchFamily="34" charset="0"/>
              <a:buChar char="•"/>
            </a:pPr>
            <a:r>
              <a:rPr lang="en-US" dirty="0"/>
              <a:t>Booster version “FT” appears to be the most frequently used and has a high success rate across various payload masses.</a:t>
            </a:r>
          </a:p>
          <a:p>
            <a:pPr marL="285750" indent="-285750">
              <a:buFont typeface="Arial" panose="020B0604020202020204" pitchFamily="34" charset="0"/>
              <a:buChar char="•"/>
            </a:pPr>
            <a:r>
              <a:rPr lang="en-US" dirty="0"/>
              <a:t>Booster version “v1.0” has fewer launches and may require further analysis to understand its performance.</a:t>
            </a:r>
          </a:p>
          <a:p>
            <a:pPr marL="285750" indent="-285750">
              <a:buFont typeface="Arial" panose="020B0604020202020204" pitchFamily="34" charset="0"/>
              <a:buChar char="•"/>
            </a:pPr>
            <a:r>
              <a:rPr lang="en-US" dirty="0"/>
              <a:t>Overall, booster versions do not show a clear trend that higher payload masses correlate with lower success rates.</a:t>
            </a:r>
            <a:endParaRPr lang="en-IN" dirty="0"/>
          </a:p>
        </p:txBody>
      </p:sp>
      <p:sp>
        <p:nvSpPr>
          <p:cNvPr id="14" name="TextBox 13">
            <a:extLst>
              <a:ext uri="{FF2B5EF4-FFF2-40B4-BE49-F238E27FC236}">
                <a16:creationId xmlns:a16="http://schemas.microsoft.com/office/drawing/2014/main" id="{6B2CC5A0-DDAC-8627-1EC7-EA83041C6B92}"/>
              </a:ext>
            </a:extLst>
          </p:cNvPr>
          <p:cNvSpPr txBox="1"/>
          <p:nvPr/>
        </p:nvSpPr>
        <p:spPr>
          <a:xfrm>
            <a:off x="2889813" y="6565745"/>
            <a:ext cx="8393230" cy="276999"/>
          </a:xfrm>
          <a:prstGeom prst="rect">
            <a:avLst/>
          </a:prstGeom>
          <a:noFill/>
        </p:spPr>
        <p:txBody>
          <a:bodyPr wrap="square" rtlCol="0">
            <a:spAutoFit/>
          </a:bodyPr>
          <a:lstStyle/>
          <a:p>
            <a:r>
              <a:rPr lang="en-IN" sz="1200" dirty="0" err="1"/>
              <a:t>Github</a:t>
            </a:r>
            <a:r>
              <a:rPr lang="en-IN" sz="1200" dirty="0"/>
              <a:t> URL: </a:t>
            </a:r>
            <a:r>
              <a:rPr lang="en-IN" sz="1200" dirty="0">
                <a:hlinkClick r:id="rId4" action="ppaction://hlinksldjump"/>
              </a:rPr>
              <a:t>https://github.com/Gauribuild/IBM-Applied-Data-Science-Capstone/blob/main/spacex-dash-app.py</a:t>
            </a:r>
            <a:endParaRPr lang="en-IN" sz="1200" dirty="0"/>
          </a:p>
        </p:txBody>
      </p:sp>
    </p:spTree>
    <p:extLst>
      <p:ext uri="{BB962C8B-B14F-4D97-AF65-F5344CB8AC3E}">
        <p14:creationId xmlns:p14="http://schemas.microsoft.com/office/powerpoint/2010/main" val="2623258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150699-44E7-EBE5-6E4F-5AEF9A392F87}"/>
              </a:ext>
            </a:extLst>
          </p:cNvPr>
          <p:cNvSpPr txBox="1"/>
          <p:nvPr/>
        </p:nvSpPr>
        <p:spPr>
          <a:xfrm>
            <a:off x="330200" y="228600"/>
            <a:ext cx="8788400" cy="461665"/>
          </a:xfrm>
          <a:prstGeom prst="rect">
            <a:avLst/>
          </a:prstGeom>
          <a:noFill/>
        </p:spPr>
        <p:txBody>
          <a:bodyPr wrap="square" rtlCol="0">
            <a:spAutoFit/>
          </a:bodyPr>
          <a:lstStyle/>
          <a:p>
            <a:r>
              <a:rPr lang="en-IN" sz="2400" b="1" dirty="0">
                <a:solidFill>
                  <a:schemeClr val="tx2">
                    <a:lumMod val="75000"/>
                    <a:lumOff val="25000"/>
                  </a:schemeClr>
                </a:solidFill>
              </a:rPr>
              <a:t>PREDICTIVE ANALYSIS (CLASSIFICATION)</a:t>
            </a:r>
          </a:p>
        </p:txBody>
      </p:sp>
      <p:cxnSp>
        <p:nvCxnSpPr>
          <p:cNvPr id="4" name="Straight Connector 3">
            <a:extLst>
              <a:ext uri="{FF2B5EF4-FFF2-40B4-BE49-F238E27FC236}">
                <a16:creationId xmlns:a16="http://schemas.microsoft.com/office/drawing/2014/main" id="{3DB55A4F-9951-962B-AEE4-DECA4927A2C5}"/>
              </a:ext>
            </a:extLst>
          </p:cNvPr>
          <p:cNvCxnSpPr>
            <a:cxnSpLocks/>
          </p:cNvCxnSpPr>
          <p:nvPr/>
        </p:nvCxnSpPr>
        <p:spPr>
          <a:xfrm>
            <a:off x="431800" y="690265"/>
            <a:ext cx="1129030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D0D92E3-AB2E-D636-B3A9-65235F1F89A7}"/>
              </a:ext>
            </a:extLst>
          </p:cNvPr>
          <p:cNvSpPr txBox="1"/>
          <p:nvPr/>
        </p:nvSpPr>
        <p:spPr>
          <a:xfrm>
            <a:off x="330200" y="782105"/>
            <a:ext cx="11634002" cy="2031325"/>
          </a:xfrm>
          <a:prstGeom prst="rect">
            <a:avLst/>
          </a:prstGeom>
          <a:noFill/>
        </p:spPr>
        <p:txBody>
          <a:bodyPr wrap="square">
            <a:spAutoFit/>
          </a:bodyPr>
          <a:lstStyle/>
          <a:p>
            <a:pPr marL="285750" indent="-285750">
              <a:buFont typeface="Arial" panose="020B0604020202020204" pitchFamily="34" charset="0"/>
              <a:buChar char="•"/>
            </a:pPr>
            <a:r>
              <a:rPr lang="en-US" dirty="0"/>
              <a:t>Created a NumPy array from the column "Class" in data.</a:t>
            </a:r>
          </a:p>
          <a:p>
            <a:pPr marL="285750" indent="-285750">
              <a:buFont typeface="Arial" panose="020B0604020202020204" pitchFamily="34" charset="0"/>
              <a:buChar char="•"/>
            </a:pPr>
            <a:r>
              <a:rPr lang="en-US" dirty="0"/>
              <a:t>Standardized the data with </a:t>
            </a:r>
            <a:r>
              <a:rPr lang="en-US" dirty="0" err="1"/>
              <a:t>StandardScaler</a:t>
            </a:r>
            <a:r>
              <a:rPr lang="en-US" dirty="0"/>
              <a:t>, then fitted and transformed it. </a:t>
            </a:r>
          </a:p>
          <a:p>
            <a:pPr marL="285750" indent="-285750">
              <a:buFont typeface="Arial" panose="020B0604020202020204" pitchFamily="34" charset="0"/>
              <a:buChar char="•"/>
            </a:pPr>
            <a:r>
              <a:rPr lang="en-US" dirty="0"/>
              <a:t>Split data into training and test sets for model validation.</a:t>
            </a:r>
          </a:p>
          <a:p>
            <a:pPr marL="285750" indent="-285750">
              <a:buFont typeface="Arial" panose="020B0604020202020204" pitchFamily="34" charset="0"/>
              <a:buChar char="•"/>
            </a:pPr>
            <a:r>
              <a:rPr lang="en-US" dirty="0"/>
              <a:t>Used </a:t>
            </a:r>
            <a:r>
              <a:rPr lang="en-US" dirty="0" err="1"/>
              <a:t>GridSearchCV</a:t>
            </a:r>
            <a:r>
              <a:rPr lang="en-US" dirty="0"/>
              <a:t> to systematically search for optimal hyperparameters.</a:t>
            </a:r>
          </a:p>
          <a:p>
            <a:pPr marL="285750" indent="-285750">
              <a:buFont typeface="Arial" panose="020B0604020202020204" pitchFamily="34" charset="0"/>
              <a:buChar char="•"/>
            </a:pPr>
            <a:r>
              <a:rPr lang="en-US" dirty="0"/>
              <a:t>Tuned parameters such as C (SVM), </a:t>
            </a:r>
            <a:r>
              <a:rPr lang="en-US" dirty="0" err="1"/>
              <a:t>max_depth</a:t>
            </a:r>
            <a:r>
              <a:rPr lang="en-US" dirty="0"/>
              <a:t> (Decision Trees), and </a:t>
            </a:r>
            <a:r>
              <a:rPr lang="en-US" dirty="0" err="1"/>
              <a:t>n_neighbors</a:t>
            </a:r>
            <a:r>
              <a:rPr lang="en-US" dirty="0"/>
              <a:t> (KNN).</a:t>
            </a:r>
          </a:p>
          <a:p>
            <a:pPr marL="285750" indent="-285750">
              <a:buFont typeface="Arial" panose="020B0604020202020204" pitchFamily="34" charset="0"/>
              <a:buChar char="•"/>
            </a:pPr>
            <a:r>
              <a:rPr lang="en-US" dirty="0"/>
              <a:t>Calculating the accuracy on the test data using the </a:t>
            </a:r>
            <a:r>
              <a:rPr lang="en-US" dirty="0" err="1"/>
              <a:t>method.score</a:t>
            </a:r>
            <a:r>
              <a:rPr lang="en-US" dirty="0"/>
              <a:t>() for all models.</a:t>
            </a:r>
          </a:p>
          <a:p>
            <a:pPr marL="285750" indent="-285750">
              <a:buFont typeface="Arial" panose="020B0604020202020204" pitchFamily="34" charset="0"/>
              <a:buChar char="•"/>
            </a:pPr>
            <a:r>
              <a:rPr lang="en-US" dirty="0"/>
              <a:t>Identified the model with the highest accuracy on the test set as the best performer.</a:t>
            </a:r>
          </a:p>
        </p:txBody>
      </p:sp>
      <p:pic>
        <p:nvPicPr>
          <p:cNvPr id="6" name="Picture 5">
            <a:extLst>
              <a:ext uri="{FF2B5EF4-FFF2-40B4-BE49-F238E27FC236}">
                <a16:creationId xmlns:a16="http://schemas.microsoft.com/office/drawing/2014/main" id="{0FE0A310-7115-E6F4-16AB-2B75882050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2989" y="3748322"/>
            <a:ext cx="4349011" cy="3065233"/>
          </a:xfrm>
          <a:prstGeom prst="rect">
            <a:avLst/>
          </a:prstGeom>
        </p:spPr>
      </p:pic>
      <p:sp>
        <p:nvSpPr>
          <p:cNvPr id="7" name="TextBox 6">
            <a:extLst>
              <a:ext uri="{FF2B5EF4-FFF2-40B4-BE49-F238E27FC236}">
                <a16:creationId xmlns:a16="http://schemas.microsoft.com/office/drawing/2014/main" id="{4EAC664E-BF46-829A-349A-ECC7C889EE40}"/>
              </a:ext>
            </a:extLst>
          </p:cNvPr>
          <p:cNvSpPr txBox="1"/>
          <p:nvPr/>
        </p:nvSpPr>
        <p:spPr>
          <a:xfrm>
            <a:off x="330200" y="3038060"/>
            <a:ext cx="8121035" cy="461665"/>
          </a:xfrm>
          <a:prstGeom prst="rect">
            <a:avLst/>
          </a:prstGeom>
          <a:noFill/>
        </p:spPr>
        <p:txBody>
          <a:bodyPr wrap="square" rtlCol="0">
            <a:spAutoFit/>
          </a:bodyPr>
          <a:lstStyle/>
          <a:p>
            <a:r>
              <a:rPr lang="en-IN" sz="2400" b="1" dirty="0">
                <a:solidFill>
                  <a:schemeClr val="tx2">
                    <a:lumMod val="75000"/>
                    <a:lumOff val="25000"/>
                  </a:schemeClr>
                </a:solidFill>
              </a:rPr>
              <a:t>INSIGHTS FROM PREDICTIVE ANALYSIS:</a:t>
            </a:r>
          </a:p>
        </p:txBody>
      </p:sp>
      <p:cxnSp>
        <p:nvCxnSpPr>
          <p:cNvPr id="8" name="Straight Connector 7">
            <a:extLst>
              <a:ext uri="{FF2B5EF4-FFF2-40B4-BE49-F238E27FC236}">
                <a16:creationId xmlns:a16="http://schemas.microsoft.com/office/drawing/2014/main" id="{76BF7B89-FBF6-733D-205C-B537A6883940}"/>
              </a:ext>
            </a:extLst>
          </p:cNvPr>
          <p:cNvCxnSpPr>
            <a:cxnSpLocks/>
          </p:cNvCxnSpPr>
          <p:nvPr/>
        </p:nvCxnSpPr>
        <p:spPr>
          <a:xfrm>
            <a:off x="431800" y="3467500"/>
            <a:ext cx="11290300" cy="0"/>
          </a:xfrm>
          <a:prstGeom prst="line">
            <a:avLst/>
          </a:prstGeom>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5FB44E3-A904-E6DD-BC5E-2214DA5F2C78}"/>
              </a:ext>
            </a:extLst>
          </p:cNvPr>
          <p:cNvSpPr txBox="1"/>
          <p:nvPr/>
        </p:nvSpPr>
        <p:spPr>
          <a:xfrm>
            <a:off x="315684" y="3929165"/>
            <a:ext cx="7432653" cy="1754326"/>
          </a:xfrm>
          <a:prstGeom prst="rect">
            <a:avLst/>
          </a:prstGeom>
          <a:noFill/>
        </p:spPr>
        <p:txBody>
          <a:bodyPr wrap="square">
            <a:spAutoFit/>
          </a:bodyPr>
          <a:lstStyle/>
          <a:p>
            <a:pPr marL="285750" indent="-285750">
              <a:buFont typeface="Arial" panose="020B0604020202020204" pitchFamily="34" charset="0"/>
              <a:buChar char="•"/>
            </a:pPr>
            <a:r>
              <a:rPr lang="en-US" dirty="0"/>
              <a:t>Based on the results, the Decision Tree model has the highest classification accuracy on the test data, achieving an accuracy of 0.9444.</a:t>
            </a:r>
          </a:p>
          <a:p>
            <a:pPr marL="285750" indent="-285750">
              <a:buFont typeface="Arial" panose="020B0604020202020204" pitchFamily="34" charset="0"/>
              <a:buChar char="•"/>
            </a:pPr>
            <a:r>
              <a:rPr lang="en-US" dirty="0"/>
              <a:t>This suggests that the Decision Tree model is better suited for this dataset compared to Logistic Regression, Support Vector Machine, and K Nearest Neighbors, all of which achieved an accuracy of 0.8333.</a:t>
            </a:r>
            <a:endParaRPr lang="en-IN" dirty="0"/>
          </a:p>
        </p:txBody>
      </p:sp>
    </p:spTree>
    <p:extLst>
      <p:ext uri="{BB962C8B-B14F-4D97-AF65-F5344CB8AC3E}">
        <p14:creationId xmlns:p14="http://schemas.microsoft.com/office/powerpoint/2010/main" val="3806733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2D7D07-9B02-5ED9-4FB1-9F63D8BE8E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2236" y="832085"/>
            <a:ext cx="6299764" cy="4779444"/>
          </a:xfrm>
          <a:prstGeom prst="rect">
            <a:avLst/>
          </a:prstGeom>
        </p:spPr>
      </p:pic>
      <p:sp>
        <p:nvSpPr>
          <p:cNvPr id="10" name="Rectangle 1">
            <a:extLst>
              <a:ext uri="{FF2B5EF4-FFF2-40B4-BE49-F238E27FC236}">
                <a16:creationId xmlns:a16="http://schemas.microsoft.com/office/drawing/2014/main" id="{DF5F1042-18DA-B358-0EB5-D5630D72D54A}"/>
              </a:ext>
            </a:extLst>
          </p:cNvPr>
          <p:cNvSpPr>
            <a:spLocks noChangeArrowheads="1"/>
          </p:cNvSpPr>
          <p:nvPr/>
        </p:nvSpPr>
        <p:spPr bwMode="auto">
          <a:xfrm>
            <a:off x="220320" y="1744479"/>
            <a:ext cx="574734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model predicted 12 successful landing showing reliability.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It also correctly identified 3 failed landings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There are 0 False Negatives, meaning the model never missed an actual successful landing.</a:t>
            </a:r>
          </a:p>
        </p:txBody>
      </p:sp>
      <p:sp>
        <p:nvSpPr>
          <p:cNvPr id="11" name="TextBox 10">
            <a:extLst>
              <a:ext uri="{FF2B5EF4-FFF2-40B4-BE49-F238E27FC236}">
                <a16:creationId xmlns:a16="http://schemas.microsoft.com/office/drawing/2014/main" id="{E3DE4F10-E98C-F9C4-616D-66A0276547CD}"/>
              </a:ext>
            </a:extLst>
          </p:cNvPr>
          <p:cNvSpPr txBox="1"/>
          <p:nvPr/>
        </p:nvSpPr>
        <p:spPr>
          <a:xfrm>
            <a:off x="676977" y="6532875"/>
            <a:ext cx="10838046" cy="276999"/>
          </a:xfrm>
          <a:prstGeom prst="rect">
            <a:avLst/>
          </a:prstGeom>
          <a:noFill/>
        </p:spPr>
        <p:txBody>
          <a:bodyPr wrap="square" rtlCol="0">
            <a:spAutoFit/>
          </a:bodyPr>
          <a:lstStyle/>
          <a:p>
            <a:r>
              <a:rPr lang="en-IN" sz="1200" dirty="0" err="1"/>
              <a:t>Github</a:t>
            </a:r>
            <a:r>
              <a:rPr lang="en-IN" sz="1200" dirty="0"/>
              <a:t> URL: </a:t>
            </a:r>
            <a:r>
              <a:rPr lang="en-IN" sz="1200" dirty="0">
                <a:hlinkClick r:id="rId3" action="ppaction://hlinksldjump"/>
              </a:rPr>
              <a:t>https://github.com/Gauribuild/IBM-Applied-Data-Science-Capstone/blob/main/SpaceX_Machine%20Learning%20Prediction_Part_5%20(3).ipynb</a:t>
            </a:r>
            <a:endParaRPr lang="en-IN" sz="1200" dirty="0"/>
          </a:p>
        </p:txBody>
      </p:sp>
    </p:spTree>
    <p:extLst>
      <p:ext uri="{BB962C8B-B14F-4D97-AF65-F5344CB8AC3E}">
        <p14:creationId xmlns:p14="http://schemas.microsoft.com/office/powerpoint/2010/main" val="306016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78DEF-67D8-FB72-B8C0-98F9F8259D4B}"/>
              </a:ext>
            </a:extLst>
          </p:cNvPr>
          <p:cNvSpPr txBox="1"/>
          <p:nvPr/>
        </p:nvSpPr>
        <p:spPr>
          <a:xfrm>
            <a:off x="368300" y="254000"/>
            <a:ext cx="8610600" cy="461665"/>
          </a:xfrm>
          <a:prstGeom prst="rect">
            <a:avLst/>
          </a:prstGeom>
          <a:noFill/>
        </p:spPr>
        <p:txBody>
          <a:bodyPr wrap="square" rtlCol="0">
            <a:spAutoFit/>
          </a:bodyPr>
          <a:lstStyle/>
          <a:p>
            <a:r>
              <a:rPr lang="en-IN" sz="2400" b="1" dirty="0">
                <a:solidFill>
                  <a:schemeClr val="tx2">
                    <a:lumMod val="75000"/>
                    <a:lumOff val="25000"/>
                  </a:schemeClr>
                </a:solidFill>
              </a:rPr>
              <a:t>RESULTS</a:t>
            </a:r>
          </a:p>
        </p:txBody>
      </p:sp>
      <p:cxnSp>
        <p:nvCxnSpPr>
          <p:cNvPr id="4" name="Straight Connector 3">
            <a:extLst>
              <a:ext uri="{FF2B5EF4-FFF2-40B4-BE49-F238E27FC236}">
                <a16:creationId xmlns:a16="http://schemas.microsoft.com/office/drawing/2014/main" id="{77DCF66C-72DD-7B5F-A36C-840ECD2E47C4}"/>
              </a:ext>
            </a:extLst>
          </p:cNvPr>
          <p:cNvCxnSpPr/>
          <p:nvPr/>
        </p:nvCxnSpPr>
        <p:spPr>
          <a:xfrm>
            <a:off x="457200" y="715665"/>
            <a:ext cx="11480800" cy="0"/>
          </a:xfrm>
          <a:prstGeom prst="line">
            <a:avLst/>
          </a:prstGeom>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0FBA6DE-242F-91BA-5EBE-1CAF2AFDCFDC}"/>
              </a:ext>
            </a:extLst>
          </p:cNvPr>
          <p:cNvSpPr txBox="1"/>
          <p:nvPr/>
        </p:nvSpPr>
        <p:spPr>
          <a:xfrm>
            <a:off x="368300" y="921693"/>
            <a:ext cx="11701780" cy="1200329"/>
          </a:xfrm>
          <a:prstGeom prst="rect">
            <a:avLst/>
          </a:prstGeom>
          <a:noFill/>
        </p:spPr>
        <p:txBody>
          <a:bodyPr wrap="square">
            <a:spAutoFit/>
          </a:bodyPr>
          <a:lstStyle/>
          <a:p>
            <a:pPr marL="285750" indent="-285750">
              <a:buFont typeface="Arial" panose="020B0604020202020204" pitchFamily="34" charset="0"/>
              <a:buChar char="•"/>
            </a:pPr>
            <a:r>
              <a:rPr lang="en-US" dirty="0"/>
              <a:t>Our analysis revealed that the "KSC LC-39A " launch site has the highest success rate among all sites, accounting for 41.7% of successful launches. This indicates that this site might have optimal conditions or processes that contribute to a higher success rate.</a:t>
            </a:r>
          </a:p>
          <a:p>
            <a:pPr marL="285750" indent="-285750">
              <a:buFont typeface="Arial" panose="020B0604020202020204" pitchFamily="34" charset="0"/>
              <a:buChar char="•"/>
            </a:pPr>
            <a:endParaRPr lang="en-IN" dirty="0"/>
          </a:p>
        </p:txBody>
      </p:sp>
      <p:sp>
        <p:nvSpPr>
          <p:cNvPr id="9" name="TextBox 8">
            <a:extLst>
              <a:ext uri="{FF2B5EF4-FFF2-40B4-BE49-F238E27FC236}">
                <a16:creationId xmlns:a16="http://schemas.microsoft.com/office/drawing/2014/main" id="{E86A41D7-F377-6105-4891-452F754993C0}"/>
              </a:ext>
            </a:extLst>
          </p:cNvPr>
          <p:cNvSpPr txBox="1"/>
          <p:nvPr/>
        </p:nvSpPr>
        <p:spPr>
          <a:xfrm>
            <a:off x="368300" y="1951672"/>
            <a:ext cx="11701780" cy="923330"/>
          </a:xfrm>
          <a:prstGeom prst="rect">
            <a:avLst/>
          </a:prstGeom>
          <a:noFill/>
        </p:spPr>
        <p:txBody>
          <a:bodyPr wrap="square">
            <a:spAutoFit/>
          </a:bodyPr>
          <a:lstStyle/>
          <a:p>
            <a:pPr marL="285750" indent="-285750">
              <a:buFont typeface="Arial" panose="020B0604020202020204" pitchFamily="34" charset="0"/>
              <a:buChar char="•"/>
            </a:pPr>
            <a:r>
              <a:rPr lang="en-US" dirty="0"/>
              <a:t>The scatter plot analysis showed that the "FT" booster version has a high success rate across various payload masses, demonstrating its reliability and robustness compared to other booster versions. This suggests that future missions might benefit from utilizing this booster version for improved success rates.</a:t>
            </a:r>
            <a:endParaRPr lang="en-IN" dirty="0"/>
          </a:p>
        </p:txBody>
      </p:sp>
      <p:sp>
        <p:nvSpPr>
          <p:cNvPr id="11" name="TextBox 10">
            <a:extLst>
              <a:ext uri="{FF2B5EF4-FFF2-40B4-BE49-F238E27FC236}">
                <a16:creationId xmlns:a16="http://schemas.microsoft.com/office/drawing/2014/main" id="{D74E7C12-6898-94FA-30DA-F5B6A87A5F71}"/>
              </a:ext>
            </a:extLst>
          </p:cNvPr>
          <p:cNvSpPr txBox="1"/>
          <p:nvPr/>
        </p:nvSpPr>
        <p:spPr>
          <a:xfrm>
            <a:off x="368300" y="2967335"/>
            <a:ext cx="6097604" cy="369332"/>
          </a:xfrm>
          <a:prstGeom prst="rect">
            <a:avLst/>
          </a:prstGeom>
          <a:noFill/>
        </p:spPr>
        <p:txBody>
          <a:bodyPr wrap="square">
            <a:spAutoFit/>
          </a:bodyPr>
          <a:lstStyle/>
          <a:p>
            <a:pPr marL="285750" indent="-285750">
              <a:buFont typeface="Arial" panose="020B0604020202020204" pitchFamily="34" charset="0"/>
              <a:buChar char="•"/>
            </a:pPr>
            <a:r>
              <a:rPr lang="en-IN" dirty="0"/>
              <a:t>The success rate of launches increases over the years.</a:t>
            </a:r>
          </a:p>
        </p:txBody>
      </p:sp>
      <p:sp>
        <p:nvSpPr>
          <p:cNvPr id="13" name="TextBox 12">
            <a:extLst>
              <a:ext uri="{FF2B5EF4-FFF2-40B4-BE49-F238E27FC236}">
                <a16:creationId xmlns:a16="http://schemas.microsoft.com/office/drawing/2014/main" id="{9EC83DE6-82E8-DD2C-799E-D5C7B853B3ED}"/>
              </a:ext>
            </a:extLst>
          </p:cNvPr>
          <p:cNvSpPr txBox="1"/>
          <p:nvPr/>
        </p:nvSpPr>
        <p:spPr>
          <a:xfrm>
            <a:off x="368300" y="3429000"/>
            <a:ext cx="7447414" cy="369332"/>
          </a:xfrm>
          <a:prstGeom prst="rect">
            <a:avLst/>
          </a:prstGeom>
          <a:noFill/>
        </p:spPr>
        <p:txBody>
          <a:bodyPr wrap="square">
            <a:spAutoFit/>
          </a:bodyPr>
          <a:lstStyle/>
          <a:p>
            <a:pPr marL="285750" indent="-285750">
              <a:buFont typeface="Arial" panose="020B0604020202020204" pitchFamily="34" charset="0"/>
              <a:buChar char="•"/>
            </a:pPr>
            <a:r>
              <a:rPr lang="en-US" dirty="0"/>
              <a:t>Orbits ES-L1, GEO, HEO and SSO have 100% success rate.</a:t>
            </a:r>
            <a:endParaRPr lang="en-IN" dirty="0"/>
          </a:p>
        </p:txBody>
      </p:sp>
      <p:sp>
        <p:nvSpPr>
          <p:cNvPr id="15" name="TextBox 14">
            <a:extLst>
              <a:ext uri="{FF2B5EF4-FFF2-40B4-BE49-F238E27FC236}">
                <a16:creationId xmlns:a16="http://schemas.microsoft.com/office/drawing/2014/main" id="{B876F08C-1A5B-B7E9-F5D8-9F041066D5C3}"/>
              </a:ext>
            </a:extLst>
          </p:cNvPr>
          <p:cNvSpPr txBox="1"/>
          <p:nvPr/>
        </p:nvSpPr>
        <p:spPr>
          <a:xfrm>
            <a:off x="368299" y="3890665"/>
            <a:ext cx="10643001" cy="369332"/>
          </a:xfrm>
          <a:prstGeom prst="rect">
            <a:avLst/>
          </a:prstGeom>
          <a:noFill/>
        </p:spPr>
        <p:txBody>
          <a:bodyPr wrap="square">
            <a:spAutoFit/>
          </a:bodyPr>
          <a:lstStyle/>
          <a:p>
            <a:pPr marL="285750" indent="-285750">
              <a:buFont typeface="Arial" panose="020B0604020202020204" pitchFamily="34" charset="0"/>
              <a:buChar char="•"/>
            </a:pPr>
            <a:r>
              <a:rPr lang="en-US" dirty="0"/>
              <a:t>Launches with a low payload mass show better results than launches with a larger payload mass.</a:t>
            </a:r>
            <a:endParaRPr lang="en-IN" dirty="0"/>
          </a:p>
        </p:txBody>
      </p:sp>
      <p:sp>
        <p:nvSpPr>
          <p:cNvPr id="16" name="TextBox 15">
            <a:extLst>
              <a:ext uri="{FF2B5EF4-FFF2-40B4-BE49-F238E27FC236}">
                <a16:creationId xmlns:a16="http://schemas.microsoft.com/office/drawing/2014/main" id="{A74344B3-559F-7426-31CD-D4263BC88DEA}"/>
              </a:ext>
            </a:extLst>
          </p:cNvPr>
          <p:cNvSpPr txBox="1"/>
          <p:nvPr/>
        </p:nvSpPr>
        <p:spPr>
          <a:xfrm>
            <a:off x="347443" y="4325042"/>
            <a:ext cx="8610600" cy="461665"/>
          </a:xfrm>
          <a:prstGeom prst="rect">
            <a:avLst/>
          </a:prstGeom>
          <a:noFill/>
        </p:spPr>
        <p:txBody>
          <a:bodyPr wrap="square" rtlCol="0">
            <a:spAutoFit/>
          </a:bodyPr>
          <a:lstStyle/>
          <a:p>
            <a:r>
              <a:rPr lang="en-IN" sz="2400" b="1" dirty="0">
                <a:solidFill>
                  <a:schemeClr val="tx2">
                    <a:lumMod val="75000"/>
                    <a:lumOff val="25000"/>
                  </a:schemeClr>
                </a:solidFill>
              </a:rPr>
              <a:t>CONCLUSION:</a:t>
            </a:r>
          </a:p>
        </p:txBody>
      </p:sp>
      <p:cxnSp>
        <p:nvCxnSpPr>
          <p:cNvPr id="17" name="Straight Connector 16">
            <a:extLst>
              <a:ext uri="{FF2B5EF4-FFF2-40B4-BE49-F238E27FC236}">
                <a16:creationId xmlns:a16="http://schemas.microsoft.com/office/drawing/2014/main" id="{4D16329E-03F6-15F3-0F0A-BCC233A549E1}"/>
              </a:ext>
            </a:extLst>
          </p:cNvPr>
          <p:cNvCxnSpPr/>
          <p:nvPr/>
        </p:nvCxnSpPr>
        <p:spPr>
          <a:xfrm>
            <a:off x="464549" y="4743671"/>
            <a:ext cx="11480800" cy="0"/>
          </a:xfrm>
          <a:prstGeom prst="line">
            <a:avLst/>
          </a:prstGeom>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EAD6E11A-B721-DA78-2410-E84D0B2EA438}"/>
              </a:ext>
            </a:extLst>
          </p:cNvPr>
          <p:cNvSpPr txBox="1"/>
          <p:nvPr/>
        </p:nvSpPr>
        <p:spPr>
          <a:xfrm>
            <a:off x="347443" y="5036418"/>
            <a:ext cx="11312091" cy="1200329"/>
          </a:xfrm>
          <a:prstGeom prst="rect">
            <a:avLst/>
          </a:prstGeom>
          <a:noFill/>
        </p:spPr>
        <p:txBody>
          <a:bodyPr wrap="square">
            <a:spAutoFit/>
          </a:bodyPr>
          <a:lstStyle/>
          <a:p>
            <a:pPr marL="285750" indent="-285750">
              <a:buFont typeface="Arial" panose="020B0604020202020204" pitchFamily="34" charset="0"/>
              <a:buChar char="•"/>
            </a:pPr>
            <a:r>
              <a:rPr lang="en-US" dirty="0"/>
              <a:t>Our predictive analysis and interactive visualizations have not only shed light on key factors influencing SpaceX's launch success but also provided a robust framework for future assessments and decision-making in the aerospace industry. The insights gathered can help improve launch strategies and contribute to the ongoing success of reusable rocket technology</a:t>
            </a:r>
            <a:endParaRPr lang="en-IN" dirty="0"/>
          </a:p>
        </p:txBody>
      </p:sp>
    </p:spTree>
    <p:extLst>
      <p:ext uri="{BB962C8B-B14F-4D97-AF65-F5344CB8AC3E}">
        <p14:creationId xmlns:p14="http://schemas.microsoft.com/office/powerpoint/2010/main" val="2395144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0D5D19D-0789-4518-B5DC-D47ADF69D2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3922372-53A5-0D85-6EF7-3477C3E8E9A0}"/>
              </a:ext>
            </a:extLst>
          </p:cNvPr>
          <p:cNvSpPr txBox="1"/>
          <p:nvPr/>
        </p:nvSpPr>
        <p:spPr>
          <a:xfrm>
            <a:off x="1113810" y="3130041"/>
            <a:ext cx="4036334" cy="2387600"/>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5400" b="1">
                <a:latin typeface="+mj-lt"/>
                <a:ea typeface="+mj-ea"/>
                <a:cs typeface="+mj-cs"/>
              </a:rPr>
              <a:t>THANK YOU</a:t>
            </a:r>
          </a:p>
        </p:txBody>
      </p:sp>
      <p:grpSp>
        <p:nvGrpSpPr>
          <p:cNvPr id="13" name="Group 1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54317"/>
            <a:ext cx="731521" cy="673460"/>
            <a:chOff x="3940602" y="308034"/>
            <a:chExt cx="2116791" cy="3428999"/>
          </a:xfrm>
          <a:solidFill>
            <a:schemeClr val="accent4"/>
          </a:solidFill>
        </p:grpSpPr>
        <p:sp>
          <p:nvSpPr>
            <p:cNvPr id="9" name="Rectangle 8">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0D82C90-A980-11B3-196F-A924AC32A2B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2259" r="20133" b="-1"/>
          <a:stretch>
            <a:fillRect/>
          </a:stretch>
        </p:blipFill>
        <p:spPr>
          <a:xfrm>
            <a:off x="5922492" y="666728"/>
            <a:ext cx="5536001" cy="5465791"/>
          </a:xfrm>
          <a:prstGeom prst="rect">
            <a:avLst/>
          </a:prstGeom>
        </p:spPr>
      </p:pic>
    </p:spTree>
    <p:extLst>
      <p:ext uri="{BB962C8B-B14F-4D97-AF65-F5344CB8AC3E}">
        <p14:creationId xmlns:p14="http://schemas.microsoft.com/office/powerpoint/2010/main" val="1707874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963</TotalTime>
  <Words>2158</Words>
  <Application>Microsoft Office PowerPoint</Application>
  <PresentationFormat>Widescreen</PresentationFormat>
  <Paragraphs>173</Paragraphs>
  <Slides>25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Gauri Tomar</dc:creator>
  <cp:lastModifiedBy>Gauri Tomar</cp:lastModifiedBy>
  <cp:revision>2</cp:revision>
  <dcterms:created xsi:type="dcterms:W3CDTF">2026-03-30T15:12:51Z</dcterms:created>
  <dcterms:modified xsi:type="dcterms:W3CDTF">2026-04-05T16:02:36Z</dcterms:modified>
</cp:coreProperties>
</file>